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7" r:id="rId18"/>
    <p:sldId id="272" r:id="rId19"/>
    <p:sldId id="273" r:id="rId20"/>
    <p:sldId id="274" r:id="rId21"/>
    <p:sldId id="275" r:id="rId22"/>
    <p:sldId id="276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watermar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458663" y="6446520"/>
            <a:ext cx="550152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dirty="0">
                <a:solidFill>
                  <a:srgbClr val="999999"/>
                </a:solidFill>
              </a:rPr>
              <a:t>1 / 2</a:t>
            </a:r>
            <a:r>
              <a:rPr lang="fr-FR" sz="1200" dirty="0">
                <a:solidFill>
                  <a:srgbClr val="999999"/>
                </a:solidFill>
              </a:rPr>
              <a:t>2</a:t>
            </a:r>
            <a:endParaRPr sz="1200" dirty="0">
              <a:solidFill>
                <a:srgbClr val="999999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99999"/>
                </a:solidFill>
              </a:rPr>
              <a:t>© Proxiel 2026</a:t>
            </a:r>
          </a:p>
        </p:txBody>
      </p:sp>
      <p:pic>
        <p:nvPicPr>
          <p:cNvPr id="5" name="Picture 4" descr="c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4206240"/>
            <a:ext cx="182880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2103120"/>
            <a:ext cx="8229600" cy="25699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dirty="0">
                <a:solidFill>
                  <a:srgbClr val="1F3A5F"/>
                </a:solidFill>
              </a:rPr>
              <a:t>IA de </a:t>
            </a:r>
            <a:r>
              <a:rPr sz="4000" b="1" dirty="0" err="1">
                <a:solidFill>
                  <a:srgbClr val="1F3A5F"/>
                </a:solidFill>
              </a:rPr>
              <a:t>détection</a:t>
            </a:r>
            <a:r>
              <a:rPr sz="4000" b="1" dirty="0">
                <a:solidFill>
                  <a:srgbClr val="1F3A5F"/>
                </a:solidFill>
              </a:rPr>
              <a:t> </a:t>
            </a:r>
            <a:r>
              <a:rPr sz="4000" b="1" dirty="0" err="1">
                <a:solidFill>
                  <a:srgbClr val="1F3A5F"/>
                </a:solidFill>
              </a:rPr>
              <a:t>précoce</a:t>
            </a:r>
            <a:r>
              <a:rPr sz="4000" b="1" dirty="0">
                <a:solidFill>
                  <a:srgbClr val="1F3A5F"/>
                </a:solidFill>
              </a:rPr>
              <a:t> du </a:t>
            </a:r>
            <a:r>
              <a:rPr sz="4000" b="1" dirty="0" err="1">
                <a:solidFill>
                  <a:srgbClr val="1F3A5F"/>
                </a:solidFill>
              </a:rPr>
              <a:t>décrochage</a:t>
            </a:r>
            <a:r>
              <a:rPr sz="4000" b="1" dirty="0">
                <a:solidFill>
                  <a:srgbClr val="1F3A5F"/>
                </a:solidFill>
              </a:rPr>
              <a:t> </a:t>
            </a:r>
            <a:r>
              <a:rPr sz="4000" b="1" dirty="0" err="1">
                <a:solidFill>
                  <a:srgbClr val="1F3A5F"/>
                </a:solidFill>
              </a:rPr>
              <a:t>étudiant</a:t>
            </a:r>
            <a:endParaRPr sz="4000" b="1" dirty="0">
              <a:solidFill>
                <a:srgbClr val="1F3A5F"/>
              </a:solidFill>
            </a:endParaRPr>
          </a:p>
          <a:p>
            <a:pPr>
              <a:spcBef>
                <a:spcPts val="2000"/>
              </a:spcBef>
            </a:pPr>
            <a:r>
              <a:rPr sz="2000" dirty="0">
                <a:solidFill>
                  <a:srgbClr val="404040"/>
                </a:solidFill>
              </a:rPr>
              <a:t>Certification — </a:t>
            </a:r>
            <a:r>
              <a:rPr sz="2000" dirty="0" err="1">
                <a:solidFill>
                  <a:srgbClr val="404040"/>
                </a:solidFill>
              </a:rPr>
              <a:t>Concevoir</a:t>
            </a:r>
            <a:r>
              <a:rPr sz="2000" dirty="0">
                <a:solidFill>
                  <a:srgbClr val="404040"/>
                </a:solidFill>
              </a:rPr>
              <a:t> et </a:t>
            </a:r>
            <a:r>
              <a:rPr sz="2000" dirty="0" err="1">
                <a:solidFill>
                  <a:srgbClr val="404040"/>
                </a:solidFill>
              </a:rPr>
              <a:t>implémenter</a:t>
            </a:r>
            <a:r>
              <a:rPr sz="2000" dirty="0">
                <a:solidFill>
                  <a:srgbClr val="404040"/>
                </a:solidFill>
              </a:rPr>
              <a:t> </a:t>
            </a:r>
            <a:r>
              <a:rPr sz="2000" dirty="0" err="1">
                <a:solidFill>
                  <a:srgbClr val="404040"/>
                </a:solidFill>
              </a:rPr>
              <a:t>une</a:t>
            </a:r>
            <a:r>
              <a:rPr sz="2000" dirty="0">
                <a:solidFill>
                  <a:srgbClr val="404040"/>
                </a:solidFill>
              </a:rPr>
              <a:t> solution </a:t>
            </a:r>
            <a:r>
              <a:rPr sz="2000" dirty="0" err="1">
                <a:solidFill>
                  <a:srgbClr val="404040"/>
                </a:solidFill>
              </a:rPr>
              <a:t>d'intelligence</a:t>
            </a:r>
            <a:r>
              <a:rPr sz="2000" dirty="0">
                <a:solidFill>
                  <a:srgbClr val="404040"/>
                </a:solidFill>
              </a:rPr>
              <a:t> </a:t>
            </a:r>
            <a:r>
              <a:rPr sz="2000" dirty="0" err="1">
                <a:solidFill>
                  <a:srgbClr val="404040"/>
                </a:solidFill>
              </a:rPr>
              <a:t>artificielle</a:t>
            </a:r>
            <a:endParaRPr sz="2000" dirty="0">
              <a:solidFill>
                <a:srgbClr val="404040"/>
              </a:solidFill>
            </a:endParaRPr>
          </a:p>
          <a:p>
            <a:pPr>
              <a:spcBef>
                <a:spcPts val="1000"/>
              </a:spcBef>
            </a:pPr>
            <a:r>
              <a:rPr sz="1600" dirty="0">
                <a:solidFill>
                  <a:srgbClr val="404040"/>
                </a:solidFill>
              </a:rPr>
              <a:t>Marc Valeux — Version 1.0</a:t>
            </a:r>
            <a:r>
              <a:rPr lang="fr-FR" sz="1600" dirty="0">
                <a:solidFill>
                  <a:srgbClr val="404040"/>
                </a:solidFill>
              </a:rPr>
              <a:t> — 24/08/2026</a:t>
            </a:r>
            <a:endParaRPr sz="1600" dirty="0">
              <a:solidFill>
                <a:srgbClr val="404040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watermar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458663" y="6446520"/>
            <a:ext cx="550152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dirty="0">
                <a:solidFill>
                  <a:srgbClr val="999999"/>
                </a:solidFill>
              </a:rPr>
              <a:t>2 / 2</a:t>
            </a:r>
            <a:r>
              <a:rPr lang="fr-FR" sz="1200" dirty="0">
                <a:solidFill>
                  <a:srgbClr val="999999"/>
                </a:solidFill>
              </a:rPr>
              <a:t>2</a:t>
            </a:r>
            <a:endParaRPr sz="1200" dirty="0">
              <a:solidFill>
                <a:srgbClr val="999999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99999"/>
                </a:solidFill>
              </a:rPr>
              <a:t>© Proxiel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3A5F"/>
                </a:solidFill>
              </a:rPr>
              <a:t>Contexte et problématique</a:t>
            </a:r>
          </a:p>
        </p:txBody>
      </p:sp>
      <p:pic>
        <p:nvPicPr>
          <p:cNvPr id="6" name="Picture 5" descr="warn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1920240"/>
            <a:ext cx="274320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2212848"/>
            <a:ext cx="8229600" cy="2600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 dirty="0">
                <a:solidFill>
                  <a:srgbClr val="404040"/>
                </a:solidFill>
              </a:rPr>
              <a:t>• </a:t>
            </a:r>
            <a:r>
              <a:rPr sz="2000" b="0" dirty="0" err="1">
                <a:solidFill>
                  <a:srgbClr val="404040"/>
                </a:solidFill>
              </a:rPr>
              <a:t>Taux</a:t>
            </a:r>
            <a:r>
              <a:rPr sz="2000" b="0" dirty="0">
                <a:solidFill>
                  <a:srgbClr val="404040"/>
                </a:solidFill>
              </a:rPr>
              <a:t> </a:t>
            </a:r>
            <a:r>
              <a:rPr sz="2000" b="0" dirty="0" err="1">
                <a:solidFill>
                  <a:srgbClr val="404040"/>
                </a:solidFill>
              </a:rPr>
              <a:t>d'abandon</a:t>
            </a:r>
            <a:r>
              <a:rPr sz="2000" b="0" dirty="0">
                <a:solidFill>
                  <a:srgbClr val="404040"/>
                </a:solidFill>
              </a:rPr>
              <a:t> </a:t>
            </a:r>
            <a:r>
              <a:rPr sz="2000" b="0" dirty="0" err="1">
                <a:solidFill>
                  <a:srgbClr val="404040"/>
                </a:solidFill>
              </a:rPr>
              <a:t>élevé</a:t>
            </a:r>
            <a:r>
              <a:rPr sz="2000" b="0" dirty="0">
                <a:solidFill>
                  <a:srgbClr val="404040"/>
                </a:solidFill>
              </a:rPr>
              <a:t> </a:t>
            </a:r>
            <a:r>
              <a:rPr sz="2000" b="0" dirty="0" err="1">
                <a:solidFill>
                  <a:srgbClr val="404040"/>
                </a:solidFill>
              </a:rPr>
              <a:t>en</a:t>
            </a:r>
            <a:r>
              <a:rPr sz="2000" b="0" dirty="0">
                <a:solidFill>
                  <a:srgbClr val="404040"/>
                </a:solidFill>
              </a:rPr>
              <a:t> 1re </a:t>
            </a:r>
            <a:r>
              <a:rPr sz="2000" b="0" dirty="0" err="1">
                <a:solidFill>
                  <a:srgbClr val="404040"/>
                </a:solidFill>
              </a:rPr>
              <a:t>année</a:t>
            </a:r>
            <a:r>
              <a:rPr sz="2000" b="0" dirty="0">
                <a:solidFill>
                  <a:srgbClr val="404040"/>
                </a:solidFill>
              </a:rPr>
              <a:t> de </a:t>
            </a:r>
            <a:r>
              <a:rPr sz="2000" b="0" dirty="0" err="1">
                <a:solidFill>
                  <a:srgbClr val="404040"/>
                </a:solidFill>
              </a:rPr>
              <a:t>licence</a:t>
            </a:r>
            <a:r>
              <a:rPr sz="2000" b="0" dirty="0">
                <a:solidFill>
                  <a:srgbClr val="404040"/>
                </a:solidFill>
              </a:rPr>
              <a:t> (L1) : ~28 % dans le jeu de données</a:t>
            </a:r>
          </a:p>
          <a:p>
            <a:pPr>
              <a:spcAft>
                <a:spcPts val="1000"/>
              </a:spcAft>
            </a:pPr>
            <a:r>
              <a:rPr sz="2000" b="0" dirty="0">
                <a:solidFill>
                  <a:srgbClr val="404040"/>
                </a:solidFill>
              </a:rPr>
              <a:t>• </a:t>
            </a:r>
            <a:r>
              <a:rPr sz="2000" b="0" dirty="0" err="1">
                <a:solidFill>
                  <a:srgbClr val="404040"/>
                </a:solidFill>
              </a:rPr>
              <a:t>Chaque</a:t>
            </a:r>
            <a:r>
              <a:rPr sz="2000" b="0" dirty="0">
                <a:solidFill>
                  <a:srgbClr val="404040"/>
                </a:solidFill>
              </a:rPr>
              <a:t> </a:t>
            </a:r>
            <a:r>
              <a:rPr sz="2000" b="0" dirty="0" err="1">
                <a:solidFill>
                  <a:srgbClr val="404040"/>
                </a:solidFill>
              </a:rPr>
              <a:t>décrochage</a:t>
            </a:r>
            <a:r>
              <a:rPr sz="2000" b="0" dirty="0">
                <a:solidFill>
                  <a:srgbClr val="404040"/>
                </a:solidFill>
              </a:rPr>
              <a:t> non </a:t>
            </a:r>
            <a:r>
              <a:rPr sz="2000" b="0" dirty="0" err="1">
                <a:solidFill>
                  <a:srgbClr val="404040"/>
                </a:solidFill>
              </a:rPr>
              <a:t>détecté</a:t>
            </a:r>
            <a:r>
              <a:rPr sz="2000" b="0" dirty="0">
                <a:solidFill>
                  <a:srgbClr val="404040"/>
                </a:solidFill>
              </a:rPr>
              <a:t> = </a:t>
            </a:r>
            <a:r>
              <a:rPr sz="2000" b="0" dirty="0" err="1">
                <a:solidFill>
                  <a:srgbClr val="404040"/>
                </a:solidFill>
              </a:rPr>
              <a:t>coût</a:t>
            </a:r>
            <a:r>
              <a:rPr sz="2000" b="0" dirty="0">
                <a:solidFill>
                  <a:srgbClr val="404040"/>
                </a:solidFill>
              </a:rPr>
              <a:t> </a:t>
            </a:r>
            <a:r>
              <a:rPr sz="2000" b="0" dirty="0" err="1">
                <a:solidFill>
                  <a:srgbClr val="404040"/>
                </a:solidFill>
              </a:rPr>
              <a:t>pédagogique</a:t>
            </a:r>
            <a:r>
              <a:rPr sz="2000" b="0" dirty="0">
                <a:solidFill>
                  <a:srgbClr val="404040"/>
                </a:solidFill>
              </a:rPr>
              <a:t> et </a:t>
            </a:r>
            <a:r>
              <a:rPr sz="2000" b="0" dirty="0" err="1">
                <a:solidFill>
                  <a:srgbClr val="404040"/>
                </a:solidFill>
              </a:rPr>
              <a:t>administratif</a:t>
            </a:r>
            <a:r>
              <a:rPr sz="2000" b="0" dirty="0">
                <a:solidFill>
                  <a:srgbClr val="404040"/>
                </a:solidFill>
              </a:rPr>
              <a:t> pour </a:t>
            </a:r>
            <a:r>
              <a:rPr sz="2000" b="0" dirty="0" err="1">
                <a:solidFill>
                  <a:srgbClr val="404040"/>
                </a:solidFill>
              </a:rPr>
              <a:t>l'université</a:t>
            </a:r>
            <a:r>
              <a:rPr sz="2000" b="0" dirty="0">
                <a:solidFill>
                  <a:srgbClr val="404040"/>
                </a:solidFill>
              </a:rPr>
              <a:t>,</a:t>
            </a:r>
          </a:p>
          <a:p>
            <a:pPr lvl="1">
              <a:spcAft>
                <a:spcPts val="1000"/>
              </a:spcAft>
            </a:pPr>
            <a:r>
              <a:rPr sz="1800" b="0" dirty="0">
                <a:solidFill>
                  <a:srgbClr val="404040"/>
                </a:solidFill>
              </a:rPr>
              <a:t>– et un </a:t>
            </a:r>
            <a:r>
              <a:rPr sz="1800" b="0" dirty="0" err="1">
                <a:solidFill>
                  <a:srgbClr val="404040"/>
                </a:solidFill>
              </a:rPr>
              <a:t>coût</a:t>
            </a:r>
            <a:r>
              <a:rPr sz="1800" b="0" dirty="0">
                <a:solidFill>
                  <a:srgbClr val="404040"/>
                </a:solidFill>
              </a:rPr>
              <a:t> </a:t>
            </a:r>
            <a:r>
              <a:rPr sz="1800" b="0" dirty="0" err="1">
                <a:solidFill>
                  <a:srgbClr val="404040"/>
                </a:solidFill>
              </a:rPr>
              <a:t>humain</a:t>
            </a:r>
            <a:r>
              <a:rPr sz="1800" b="0" dirty="0">
                <a:solidFill>
                  <a:srgbClr val="404040"/>
                </a:solidFill>
              </a:rPr>
              <a:t> et social pour </a:t>
            </a:r>
            <a:r>
              <a:rPr sz="1800" b="0" dirty="0" err="1">
                <a:solidFill>
                  <a:srgbClr val="404040"/>
                </a:solidFill>
              </a:rPr>
              <a:t>l'étudiant</a:t>
            </a:r>
            <a:endParaRPr sz="1800" b="0" dirty="0">
              <a:solidFill>
                <a:srgbClr val="404040"/>
              </a:solidFill>
            </a:endParaRPr>
          </a:p>
          <a:p>
            <a:pPr>
              <a:spcAft>
                <a:spcPts val="1000"/>
              </a:spcAft>
            </a:pPr>
            <a:r>
              <a:rPr sz="2000" b="0" dirty="0">
                <a:solidFill>
                  <a:srgbClr val="404040"/>
                </a:solidFill>
              </a:rPr>
              <a:t>• </a:t>
            </a:r>
            <a:r>
              <a:rPr sz="2000" b="0" dirty="0" err="1">
                <a:solidFill>
                  <a:srgbClr val="404040"/>
                </a:solidFill>
              </a:rPr>
              <a:t>L'enjeu</a:t>
            </a:r>
            <a:r>
              <a:rPr sz="2000" b="0" dirty="0">
                <a:solidFill>
                  <a:srgbClr val="404040"/>
                </a:solidFill>
              </a:rPr>
              <a:t> : </a:t>
            </a:r>
            <a:r>
              <a:rPr sz="2000" b="0" dirty="0" err="1">
                <a:solidFill>
                  <a:srgbClr val="404040"/>
                </a:solidFill>
              </a:rPr>
              <a:t>intervenir</a:t>
            </a:r>
            <a:r>
              <a:rPr sz="2000" b="0" dirty="0">
                <a:solidFill>
                  <a:srgbClr val="404040"/>
                </a:solidFill>
              </a:rPr>
              <a:t> </a:t>
            </a:r>
            <a:r>
              <a:rPr sz="2000" b="0" dirty="0" err="1">
                <a:solidFill>
                  <a:srgbClr val="404040"/>
                </a:solidFill>
              </a:rPr>
              <a:t>dès</a:t>
            </a:r>
            <a:r>
              <a:rPr sz="2000" b="0" dirty="0">
                <a:solidFill>
                  <a:srgbClr val="404040"/>
                </a:solidFill>
              </a:rPr>
              <a:t> le milieu du 1er </a:t>
            </a:r>
            <a:r>
              <a:rPr sz="2000" b="0" dirty="0" err="1">
                <a:solidFill>
                  <a:srgbClr val="404040"/>
                </a:solidFill>
              </a:rPr>
              <a:t>semestre</a:t>
            </a:r>
            <a:r>
              <a:rPr sz="2000" b="0" dirty="0">
                <a:solidFill>
                  <a:srgbClr val="404040"/>
                </a:solidFill>
              </a:rPr>
              <a:t> (mi-S1), avant </a:t>
            </a:r>
            <a:r>
              <a:rPr sz="2000" b="0" dirty="0" err="1">
                <a:solidFill>
                  <a:srgbClr val="404040"/>
                </a:solidFill>
              </a:rPr>
              <a:t>qu'il</a:t>
            </a:r>
            <a:r>
              <a:rPr sz="2000" b="0" dirty="0">
                <a:solidFill>
                  <a:srgbClr val="404040"/>
                </a:solidFill>
              </a:rPr>
              <a:t> ne soit trop tard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watermar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458663" y="6446520"/>
            <a:ext cx="550152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dirty="0">
                <a:solidFill>
                  <a:srgbClr val="999999"/>
                </a:solidFill>
              </a:rPr>
              <a:t>3 / 2</a:t>
            </a:r>
            <a:r>
              <a:rPr lang="fr-FR" sz="1200" dirty="0">
                <a:solidFill>
                  <a:srgbClr val="999999"/>
                </a:solidFill>
              </a:rPr>
              <a:t>2</a:t>
            </a:r>
            <a:endParaRPr sz="1200" dirty="0">
              <a:solidFill>
                <a:srgbClr val="999999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99999"/>
                </a:solidFill>
              </a:rPr>
              <a:t>© Proxiel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3A5F"/>
                </a:solidFill>
              </a:rPr>
              <a:t>Objectifs et approche</a:t>
            </a:r>
          </a:p>
        </p:txBody>
      </p:sp>
      <p:pic>
        <p:nvPicPr>
          <p:cNvPr id="6" name="Picture 5" descr="tar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1920240"/>
            <a:ext cx="274320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280160"/>
            <a:ext cx="8229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404040"/>
                </a:solidFill>
              </a:rPr>
              <a:t>• Prédire, à mi-semestre, le risque de décrochage (classification binaire `abandon`)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404040"/>
                </a:solidFill>
              </a:rPr>
              <a:t>• Estimer la note finale probable (régression `moyenne_finale`) pour calibrer l'accompagnement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404040"/>
                </a:solidFill>
              </a:rPr>
              <a:t>• Fournir des indicateurs explicables aux conseillers pédagogiques (pas une boîte noire)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404040"/>
                </a:solidFill>
              </a:rPr>
              <a:t>• Démarche de bout en bout : données → modèles → API → monitoring → gouvernance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404040"/>
                </a:solidFill>
              </a:rPr>
              <a:t>• Priorité donnée à la détection des faux négatifs (étudiants à risque non détectés)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watermar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458663" y="6446520"/>
            <a:ext cx="550152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dirty="0">
                <a:solidFill>
                  <a:srgbClr val="999999"/>
                </a:solidFill>
              </a:rPr>
              <a:t>4 / 2</a:t>
            </a:r>
            <a:r>
              <a:rPr lang="fr-FR" sz="1200" dirty="0">
                <a:solidFill>
                  <a:srgbClr val="999999"/>
                </a:solidFill>
              </a:rPr>
              <a:t>2</a:t>
            </a:r>
            <a:endParaRPr sz="1200" dirty="0">
              <a:solidFill>
                <a:srgbClr val="999999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99999"/>
                </a:solidFill>
              </a:rPr>
              <a:t>© Proxiel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3A5F"/>
                </a:solidFill>
              </a:rPr>
              <a:t>Enjeux éthiques, sociétaux et conformité</a:t>
            </a:r>
          </a:p>
        </p:txBody>
      </p:sp>
      <p:pic>
        <p:nvPicPr>
          <p:cNvPr id="6" name="Picture 5" descr="sh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1920240"/>
            <a:ext cx="274320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280160"/>
            <a:ext cx="8229600" cy="27597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 dirty="0">
                <a:solidFill>
                  <a:srgbClr val="404040"/>
                </a:solidFill>
              </a:rPr>
              <a:t>• RGPD : </a:t>
            </a:r>
            <a:r>
              <a:rPr sz="2000" b="0" dirty="0" err="1">
                <a:solidFill>
                  <a:srgbClr val="404040"/>
                </a:solidFill>
              </a:rPr>
              <a:t>identifiants</a:t>
            </a:r>
            <a:r>
              <a:rPr sz="2000" b="0" dirty="0">
                <a:solidFill>
                  <a:srgbClr val="404040"/>
                </a:solidFill>
              </a:rPr>
              <a:t> </a:t>
            </a:r>
            <a:r>
              <a:rPr sz="2000" b="0" dirty="0" err="1">
                <a:solidFill>
                  <a:srgbClr val="404040"/>
                </a:solidFill>
              </a:rPr>
              <a:t>exclus</a:t>
            </a:r>
            <a:r>
              <a:rPr sz="2000" b="0" dirty="0">
                <a:solidFill>
                  <a:srgbClr val="404040"/>
                </a:solidFill>
              </a:rPr>
              <a:t> des </a:t>
            </a:r>
            <a:r>
              <a:rPr sz="2000" b="0" dirty="0" err="1">
                <a:solidFill>
                  <a:srgbClr val="404040"/>
                </a:solidFill>
              </a:rPr>
              <a:t>modèles</a:t>
            </a:r>
            <a:r>
              <a:rPr sz="2000" b="0" dirty="0">
                <a:solidFill>
                  <a:srgbClr val="404040"/>
                </a:solidFill>
              </a:rPr>
              <a:t> (`</a:t>
            </a:r>
            <a:r>
              <a:rPr sz="2000" b="0" dirty="0" err="1">
                <a:solidFill>
                  <a:srgbClr val="404040"/>
                </a:solidFill>
              </a:rPr>
              <a:t>student_id</a:t>
            </a:r>
            <a:r>
              <a:rPr sz="2000" b="0" dirty="0">
                <a:solidFill>
                  <a:srgbClr val="404040"/>
                </a:solidFill>
              </a:rPr>
              <a:t>`, `</a:t>
            </a:r>
            <a:r>
              <a:rPr sz="2000" b="0" dirty="0" err="1">
                <a:solidFill>
                  <a:srgbClr val="404040"/>
                </a:solidFill>
              </a:rPr>
              <a:t>id_dossier</a:t>
            </a:r>
            <a:r>
              <a:rPr sz="2000" b="0" dirty="0">
                <a:solidFill>
                  <a:srgbClr val="404040"/>
                </a:solidFill>
              </a:rPr>
              <a:t>`)</a:t>
            </a:r>
          </a:p>
          <a:p>
            <a:pPr>
              <a:spcAft>
                <a:spcPts val="1000"/>
              </a:spcAft>
            </a:pPr>
            <a:r>
              <a:rPr sz="2000" b="0" dirty="0">
                <a:solidFill>
                  <a:srgbClr val="404040"/>
                </a:solidFill>
              </a:rPr>
              <a:t>• Variables </a:t>
            </a:r>
            <a:r>
              <a:rPr sz="2000" b="0" dirty="0" err="1">
                <a:solidFill>
                  <a:srgbClr val="404040"/>
                </a:solidFill>
              </a:rPr>
              <a:t>sensibles</a:t>
            </a:r>
            <a:r>
              <a:rPr sz="2000" b="0" dirty="0">
                <a:solidFill>
                  <a:srgbClr val="404040"/>
                </a:solidFill>
              </a:rPr>
              <a:t> </a:t>
            </a:r>
            <a:r>
              <a:rPr sz="2000" b="0" dirty="0" err="1">
                <a:solidFill>
                  <a:srgbClr val="404040"/>
                </a:solidFill>
              </a:rPr>
              <a:t>identifiées</a:t>
            </a:r>
            <a:r>
              <a:rPr sz="2000" b="0" dirty="0">
                <a:solidFill>
                  <a:srgbClr val="404040"/>
                </a:solidFill>
              </a:rPr>
              <a:t> : `</a:t>
            </a:r>
            <a:r>
              <a:rPr sz="2000" b="0" dirty="0" err="1">
                <a:solidFill>
                  <a:srgbClr val="404040"/>
                </a:solidFill>
              </a:rPr>
              <a:t>sexe</a:t>
            </a:r>
            <a:r>
              <a:rPr sz="2000" b="0" dirty="0">
                <a:solidFill>
                  <a:srgbClr val="404040"/>
                </a:solidFill>
              </a:rPr>
              <a:t>`, `</a:t>
            </a:r>
            <a:r>
              <a:rPr sz="2000" b="0" dirty="0" err="1">
                <a:solidFill>
                  <a:srgbClr val="404040"/>
                </a:solidFill>
              </a:rPr>
              <a:t>boursier</a:t>
            </a:r>
            <a:r>
              <a:rPr sz="2000" b="0" dirty="0">
                <a:solidFill>
                  <a:srgbClr val="404040"/>
                </a:solidFill>
              </a:rPr>
              <a:t>` — </a:t>
            </a:r>
            <a:r>
              <a:rPr sz="2000" b="0" dirty="0" err="1">
                <a:solidFill>
                  <a:srgbClr val="404040"/>
                </a:solidFill>
              </a:rPr>
              <a:t>exclues</a:t>
            </a:r>
            <a:r>
              <a:rPr sz="2000" b="0" dirty="0">
                <a:solidFill>
                  <a:srgbClr val="404040"/>
                </a:solidFill>
              </a:rPr>
              <a:t> des features</a:t>
            </a:r>
          </a:p>
          <a:p>
            <a:pPr>
              <a:spcAft>
                <a:spcPts val="1000"/>
              </a:spcAft>
            </a:pPr>
            <a:r>
              <a:rPr sz="2000" b="0" dirty="0">
                <a:solidFill>
                  <a:srgbClr val="404040"/>
                </a:solidFill>
              </a:rPr>
              <a:t>• Le "</a:t>
            </a:r>
            <a:r>
              <a:rPr sz="2000" b="0" dirty="0" err="1">
                <a:solidFill>
                  <a:srgbClr val="404040"/>
                </a:solidFill>
              </a:rPr>
              <a:t>dilemme</a:t>
            </a:r>
            <a:r>
              <a:rPr sz="2000" b="0" dirty="0">
                <a:solidFill>
                  <a:srgbClr val="404040"/>
                </a:solidFill>
              </a:rPr>
              <a:t> du </a:t>
            </a:r>
            <a:r>
              <a:rPr sz="2000" b="0" dirty="0" err="1">
                <a:solidFill>
                  <a:srgbClr val="404040"/>
                </a:solidFill>
              </a:rPr>
              <a:t>marquage</a:t>
            </a:r>
            <a:r>
              <a:rPr sz="2000" b="0" dirty="0">
                <a:solidFill>
                  <a:srgbClr val="404040"/>
                </a:solidFill>
              </a:rPr>
              <a:t>" : un </a:t>
            </a:r>
            <a:r>
              <a:rPr sz="2000" b="0" dirty="0" err="1">
                <a:solidFill>
                  <a:srgbClr val="404040"/>
                </a:solidFill>
              </a:rPr>
              <a:t>signalement</a:t>
            </a:r>
            <a:r>
              <a:rPr sz="2000" b="0" dirty="0">
                <a:solidFill>
                  <a:srgbClr val="404040"/>
                </a:solidFill>
              </a:rPr>
              <a:t> </a:t>
            </a:r>
            <a:r>
              <a:rPr sz="2000" b="0" dirty="0" err="1">
                <a:solidFill>
                  <a:srgbClr val="404040"/>
                </a:solidFill>
              </a:rPr>
              <a:t>erroné</a:t>
            </a:r>
            <a:r>
              <a:rPr sz="2000" b="0" dirty="0">
                <a:solidFill>
                  <a:srgbClr val="404040"/>
                </a:solidFill>
              </a:rPr>
              <a:t> </a:t>
            </a:r>
            <a:r>
              <a:rPr sz="2000" b="0" dirty="0" err="1">
                <a:solidFill>
                  <a:srgbClr val="404040"/>
                </a:solidFill>
              </a:rPr>
              <a:t>peut</a:t>
            </a:r>
            <a:r>
              <a:rPr sz="2000" b="0" dirty="0">
                <a:solidFill>
                  <a:srgbClr val="404040"/>
                </a:solidFill>
              </a:rPr>
              <a:t> </a:t>
            </a:r>
            <a:r>
              <a:rPr sz="2000" b="0" dirty="0" err="1">
                <a:solidFill>
                  <a:srgbClr val="404040"/>
                </a:solidFill>
              </a:rPr>
              <a:t>stigmatiser</a:t>
            </a:r>
            <a:r>
              <a:rPr sz="2000" b="0" dirty="0">
                <a:solidFill>
                  <a:srgbClr val="404040"/>
                </a:solidFill>
              </a:rPr>
              <a:t> un </a:t>
            </a:r>
            <a:r>
              <a:rPr sz="2000" b="0" dirty="0" err="1">
                <a:solidFill>
                  <a:srgbClr val="404040"/>
                </a:solidFill>
              </a:rPr>
              <a:t>étudiant</a:t>
            </a:r>
            <a:endParaRPr sz="2000" b="0" dirty="0">
              <a:solidFill>
                <a:srgbClr val="404040"/>
              </a:solidFill>
            </a:endParaRPr>
          </a:p>
          <a:p>
            <a:pPr>
              <a:spcAft>
                <a:spcPts val="1000"/>
              </a:spcAft>
            </a:pPr>
            <a:r>
              <a:rPr sz="2000" b="0" dirty="0">
                <a:solidFill>
                  <a:srgbClr val="404040"/>
                </a:solidFill>
              </a:rPr>
              <a:t>• Principe </a:t>
            </a:r>
            <a:r>
              <a:rPr sz="2000" b="0" dirty="0" err="1">
                <a:solidFill>
                  <a:srgbClr val="404040"/>
                </a:solidFill>
              </a:rPr>
              <a:t>retenu</a:t>
            </a:r>
            <a:r>
              <a:rPr sz="2000" b="0" dirty="0">
                <a:solidFill>
                  <a:srgbClr val="404040"/>
                </a:solidFill>
              </a:rPr>
              <a:t> : le score </a:t>
            </a:r>
            <a:r>
              <a:rPr sz="2000" b="0" dirty="0" err="1">
                <a:solidFill>
                  <a:srgbClr val="404040"/>
                </a:solidFill>
              </a:rPr>
              <a:t>reste</a:t>
            </a:r>
            <a:r>
              <a:rPr sz="2000" b="0" dirty="0">
                <a:solidFill>
                  <a:srgbClr val="404040"/>
                </a:solidFill>
              </a:rPr>
              <a:t> </a:t>
            </a:r>
            <a:r>
              <a:rPr sz="2000" b="0" dirty="0" err="1">
                <a:solidFill>
                  <a:srgbClr val="404040"/>
                </a:solidFill>
              </a:rPr>
              <a:t>une</a:t>
            </a:r>
            <a:r>
              <a:rPr sz="2000" b="0" dirty="0">
                <a:solidFill>
                  <a:srgbClr val="404040"/>
                </a:solidFill>
              </a:rPr>
              <a:t> aide à la </a:t>
            </a:r>
            <a:r>
              <a:rPr sz="2000" b="0" dirty="0" err="1">
                <a:solidFill>
                  <a:srgbClr val="404040"/>
                </a:solidFill>
              </a:rPr>
              <a:t>décision</a:t>
            </a:r>
            <a:r>
              <a:rPr sz="2000" b="0" dirty="0">
                <a:solidFill>
                  <a:srgbClr val="404040"/>
                </a:solidFill>
              </a:rPr>
              <a:t> humaine, jamais </a:t>
            </a:r>
            <a:r>
              <a:rPr sz="2000" b="0" dirty="0" err="1">
                <a:solidFill>
                  <a:srgbClr val="404040"/>
                </a:solidFill>
              </a:rPr>
              <a:t>automatique</a:t>
            </a:r>
            <a:endParaRPr sz="2000" b="0" dirty="0">
              <a:solidFill>
                <a:srgbClr val="404040"/>
              </a:solidFill>
            </a:endParaRPr>
          </a:p>
          <a:p>
            <a:pPr>
              <a:spcAft>
                <a:spcPts val="1000"/>
              </a:spcAft>
            </a:pPr>
            <a:r>
              <a:rPr sz="2000" b="0" dirty="0">
                <a:solidFill>
                  <a:srgbClr val="404040"/>
                </a:solidFill>
              </a:rPr>
              <a:t>• </a:t>
            </a:r>
            <a:r>
              <a:rPr sz="2000" b="0" dirty="0" err="1">
                <a:solidFill>
                  <a:srgbClr val="404040"/>
                </a:solidFill>
              </a:rPr>
              <a:t>Explicabilité</a:t>
            </a:r>
            <a:r>
              <a:rPr sz="2000" b="0" dirty="0">
                <a:solidFill>
                  <a:srgbClr val="404040"/>
                </a:solidFill>
              </a:rPr>
              <a:t> (SHAP) pour justifier </a:t>
            </a:r>
            <a:r>
              <a:rPr sz="2000" b="0" dirty="0" err="1">
                <a:solidFill>
                  <a:srgbClr val="404040"/>
                </a:solidFill>
              </a:rPr>
              <a:t>chaque</a:t>
            </a:r>
            <a:r>
              <a:rPr sz="2000" b="0" dirty="0">
                <a:solidFill>
                  <a:srgbClr val="404040"/>
                </a:solidFill>
              </a:rPr>
              <a:t> </a:t>
            </a:r>
            <a:r>
              <a:rPr sz="2000" b="0" dirty="0" err="1">
                <a:solidFill>
                  <a:srgbClr val="404040"/>
                </a:solidFill>
              </a:rPr>
              <a:t>signalement</a:t>
            </a:r>
            <a:endParaRPr sz="2000" b="0" dirty="0">
              <a:solidFill>
                <a:srgbClr val="404040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watermar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458663" y="6446520"/>
            <a:ext cx="550152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dirty="0">
                <a:solidFill>
                  <a:srgbClr val="999999"/>
                </a:solidFill>
              </a:rPr>
              <a:t>5 / 2</a:t>
            </a:r>
            <a:r>
              <a:rPr lang="fr-FR" sz="1200" dirty="0">
                <a:solidFill>
                  <a:srgbClr val="999999"/>
                </a:solidFill>
              </a:rPr>
              <a:t>2</a:t>
            </a:r>
            <a:endParaRPr sz="1200" dirty="0">
              <a:solidFill>
                <a:srgbClr val="999999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99999"/>
                </a:solidFill>
              </a:rPr>
              <a:t>© Proxiel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3A5F"/>
                </a:solidFill>
              </a:rPr>
              <a:t>Les données</a:t>
            </a:r>
          </a:p>
        </p:txBody>
      </p:sp>
      <p:pic>
        <p:nvPicPr>
          <p:cNvPr id="6" name="Picture 5" descr="data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1920240"/>
            <a:ext cx="274320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280160"/>
            <a:ext cx="8229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404040"/>
                </a:solidFill>
              </a:rPr>
              <a:t>• 5 240 étudiants de L1 (année 2024-2025), 33 colonnes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404040"/>
                </a:solidFill>
              </a:rPr>
              <a:t>• Catalogue des formations : 8 filières (faculté, capacité d'accueil, taux de réussite historique)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404040"/>
                </a:solidFill>
              </a:rPr>
              <a:t>• Qualité : 40 doublons exacts supprimés, jusqu'à 12 % de valeurs manquantes sur certaines colonnes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404040"/>
                </a:solidFill>
              </a:rPr>
              <a:t>• Anti-fuite : imputation par médiane fit uniquement sur le train (jamais sur le test)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404040"/>
                </a:solidFill>
              </a:rPr>
              <a:t>• Split final : 4 160 lignes train / 1 040 lignes test, stratifié sur `abandon`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watermar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458663" y="6446520"/>
            <a:ext cx="550152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dirty="0">
                <a:solidFill>
                  <a:srgbClr val="999999"/>
                </a:solidFill>
              </a:rPr>
              <a:t>6 / 2</a:t>
            </a:r>
            <a:r>
              <a:rPr lang="fr-FR" sz="1200" dirty="0">
                <a:solidFill>
                  <a:srgbClr val="999999"/>
                </a:solidFill>
              </a:rPr>
              <a:t>2</a:t>
            </a:r>
            <a:endParaRPr sz="1200" dirty="0">
              <a:solidFill>
                <a:srgbClr val="999999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99999"/>
                </a:solidFill>
              </a:rPr>
              <a:t>© Proxiel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3A5F"/>
                </a:solidFill>
              </a:rPr>
              <a:t>Analyse exploratoire — déséquilibre de la cible</a:t>
            </a:r>
          </a:p>
        </p:txBody>
      </p:sp>
      <p:pic>
        <p:nvPicPr>
          <p:cNvPr id="6" name="Picture 5" descr="sca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0" y="320040"/>
            <a:ext cx="502920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20486" y="1645920"/>
            <a:ext cx="4792394" cy="1451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 dirty="0">
                <a:solidFill>
                  <a:srgbClr val="404040"/>
                </a:solidFill>
              </a:rPr>
              <a:t>• 28,4 % </a:t>
            </a:r>
            <a:r>
              <a:rPr sz="2000" b="0" dirty="0" err="1">
                <a:solidFill>
                  <a:srgbClr val="404040"/>
                </a:solidFill>
              </a:rPr>
              <a:t>d'abandon</a:t>
            </a:r>
            <a:r>
              <a:rPr sz="2000" b="0" dirty="0">
                <a:solidFill>
                  <a:srgbClr val="404040"/>
                </a:solidFill>
              </a:rPr>
              <a:t>, 71,6 % de </a:t>
            </a:r>
            <a:r>
              <a:rPr sz="2000" b="0" dirty="0" err="1">
                <a:solidFill>
                  <a:srgbClr val="404040"/>
                </a:solidFill>
              </a:rPr>
              <a:t>réussite</a:t>
            </a:r>
            <a:r>
              <a:rPr sz="2000" b="0" dirty="0">
                <a:solidFill>
                  <a:srgbClr val="404040"/>
                </a:solidFill>
              </a:rPr>
              <a:t> — </a:t>
            </a:r>
            <a:r>
              <a:rPr sz="2000" b="0" dirty="0" err="1">
                <a:solidFill>
                  <a:srgbClr val="404040"/>
                </a:solidFill>
              </a:rPr>
              <a:t>déséquilibré</a:t>
            </a:r>
            <a:r>
              <a:rPr sz="2000" b="0" dirty="0">
                <a:solidFill>
                  <a:srgbClr val="404040"/>
                </a:solidFill>
              </a:rPr>
              <a:t> </a:t>
            </a:r>
            <a:r>
              <a:rPr sz="2000" b="0" dirty="0" err="1">
                <a:solidFill>
                  <a:srgbClr val="404040"/>
                </a:solidFill>
              </a:rPr>
              <a:t>mais</a:t>
            </a:r>
            <a:r>
              <a:rPr sz="2000" b="0" dirty="0">
                <a:solidFill>
                  <a:srgbClr val="404040"/>
                </a:solidFill>
              </a:rPr>
              <a:t> pas </a:t>
            </a:r>
            <a:r>
              <a:rPr sz="2000" b="0" dirty="0" err="1">
                <a:solidFill>
                  <a:srgbClr val="404040"/>
                </a:solidFill>
              </a:rPr>
              <a:t>extrême</a:t>
            </a:r>
            <a:endParaRPr sz="2000" b="0" dirty="0">
              <a:solidFill>
                <a:srgbClr val="404040"/>
              </a:solidFill>
            </a:endParaRPr>
          </a:p>
          <a:p>
            <a:pPr>
              <a:spcAft>
                <a:spcPts val="1000"/>
              </a:spcAft>
            </a:pPr>
            <a:r>
              <a:rPr sz="2000" b="0" dirty="0">
                <a:solidFill>
                  <a:srgbClr val="404040"/>
                </a:solidFill>
              </a:rPr>
              <a:t>• </a:t>
            </a:r>
            <a:r>
              <a:rPr sz="2000" b="0" dirty="0" err="1">
                <a:solidFill>
                  <a:srgbClr val="404040"/>
                </a:solidFill>
              </a:rPr>
              <a:t>Compensé</a:t>
            </a:r>
            <a:r>
              <a:rPr sz="2000" b="0" dirty="0">
                <a:solidFill>
                  <a:srgbClr val="404040"/>
                </a:solidFill>
              </a:rPr>
              <a:t> par `</a:t>
            </a:r>
            <a:r>
              <a:rPr sz="2000" b="0" dirty="0" err="1">
                <a:solidFill>
                  <a:srgbClr val="404040"/>
                </a:solidFill>
              </a:rPr>
              <a:t>class_weight</a:t>
            </a:r>
            <a:r>
              <a:rPr sz="2000" b="0" dirty="0">
                <a:solidFill>
                  <a:srgbClr val="404040"/>
                </a:solidFill>
              </a:rPr>
              <a:t>="balanced"` (pas de SMOTE)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280160"/>
            <a:ext cx="6088966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watermar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458663" y="6446520"/>
            <a:ext cx="550152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dirty="0">
                <a:solidFill>
                  <a:srgbClr val="999999"/>
                </a:solidFill>
              </a:rPr>
              <a:t>7 / 2</a:t>
            </a:r>
            <a:r>
              <a:rPr lang="fr-FR" sz="1200" dirty="0">
                <a:solidFill>
                  <a:srgbClr val="999999"/>
                </a:solidFill>
              </a:rPr>
              <a:t>2</a:t>
            </a:r>
            <a:endParaRPr sz="1200" dirty="0">
              <a:solidFill>
                <a:srgbClr val="999999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99999"/>
                </a:solidFill>
              </a:rPr>
              <a:t>© Proxiel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3A5F"/>
                </a:solidFill>
              </a:rPr>
              <a:t>Analyse exploratoire — facteurs de risque</a:t>
            </a:r>
          </a:p>
        </p:txBody>
      </p:sp>
      <p:pic>
        <p:nvPicPr>
          <p:cNvPr id="6" name="Picture 5" descr="magnif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0" y="320040"/>
            <a:ext cx="502920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20486" y="1645920"/>
            <a:ext cx="4792394" cy="20672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 dirty="0">
                <a:solidFill>
                  <a:srgbClr val="404040"/>
                </a:solidFill>
              </a:rPr>
              <a:t>• Le type de bac est discriminant : le bac </a:t>
            </a:r>
            <a:r>
              <a:rPr sz="2000" b="0" dirty="0" err="1">
                <a:solidFill>
                  <a:srgbClr val="404040"/>
                </a:solidFill>
              </a:rPr>
              <a:t>professionnel</a:t>
            </a:r>
            <a:r>
              <a:rPr sz="2000" b="0" dirty="0">
                <a:solidFill>
                  <a:srgbClr val="404040"/>
                </a:solidFill>
              </a:rPr>
              <a:t> </a:t>
            </a:r>
            <a:r>
              <a:rPr sz="2000" b="0" dirty="0" err="1">
                <a:solidFill>
                  <a:srgbClr val="404040"/>
                </a:solidFill>
              </a:rPr>
              <a:t>décroche</a:t>
            </a:r>
            <a:r>
              <a:rPr sz="2000" b="0" dirty="0">
                <a:solidFill>
                  <a:srgbClr val="404040"/>
                </a:solidFill>
              </a:rPr>
              <a:t> </a:t>
            </a:r>
            <a:r>
              <a:rPr sz="2000" b="0" dirty="0" err="1">
                <a:solidFill>
                  <a:srgbClr val="404040"/>
                </a:solidFill>
              </a:rPr>
              <a:t>nettement</a:t>
            </a:r>
            <a:r>
              <a:rPr sz="2000" b="0" dirty="0">
                <a:solidFill>
                  <a:srgbClr val="404040"/>
                </a:solidFill>
              </a:rPr>
              <a:t> plus</a:t>
            </a:r>
            <a:r>
              <a:rPr lang="fr-FR" sz="2000" b="0" dirty="0">
                <a:solidFill>
                  <a:srgbClr val="404040"/>
                </a:solidFill>
              </a:rPr>
              <a:t> </a:t>
            </a:r>
            <a:r>
              <a:rPr sz="2000" b="0" dirty="0" err="1">
                <a:solidFill>
                  <a:srgbClr val="404040"/>
                </a:solidFill>
              </a:rPr>
              <a:t>que</a:t>
            </a:r>
            <a:r>
              <a:rPr sz="2000" b="0" dirty="0">
                <a:solidFill>
                  <a:srgbClr val="404040"/>
                </a:solidFill>
              </a:rPr>
              <a:t> le bac </a:t>
            </a:r>
            <a:r>
              <a:rPr sz="2000" b="0" dirty="0" err="1">
                <a:solidFill>
                  <a:srgbClr val="404040"/>
                </a:solidFill>
              </a:rPr>
              <a:t>général</a:t>
            </a:r>
            <a:endParaRPr sz="2000" b="0" dirty="0">
              <a:solidFill>
                <a:srgbClr val="404040"/>
              </a:solidFill>
            </a:endParaRPr>
          </a:p>
          <a:p>
            <a:pPr>
              <a:spcAft>
                <a:spcPts val="1000"/>
              </a:spcAft>
            </a:pPr>
            <a:r>
              <a:rPr sz="2000" b="0" dirty="0">
                <a:solidFill>
                  <a:srgbClr val="404040"/>
                </a:solidFill>
              </a:rPr>
              <a:t>• </a:t>
            </a:r>
            <a:r>
              <a:rPr sz="2000" b="0" dirty="0" err="1">
                <a:solidFill>
                  <a:srgbClr val="404040"/>
                </a:solidFill>
              </a:rPr>
              <a:t>Autres</a:t>
            </a:r>
            <a:r>
              <a:rPr sz="2000" b="0" dirty="0">
                <a:solidFill>
                  <a:srgbClr val="404040"/>
                </a:solidFill>
              </a:rPr>
              <a:t> </a:t>
            </a:r>
            <a:r>
              <a:rPr sz="2000" b="0" dirty="0" err="1">
                <a:solidFill>
                  <a:srgbClr val="404040"/>
                </a:solidFill>
              </a:rPr>
              <a:t>facteurs</a:t>
            </a:r>
            <a:r>
              <a:rPr sz="2000" b="0" dirty="0">
                <a:solidFill>
                  <a:srgbClr val="404040"/>
                </a:solidFill>
              </a:rPr>
              <a:t> </a:t>
            </a:r>
            <a:r>
              <a:rPr sz="2000" b="0" dirty="0" err="1">
                <a:solidFill>
                  <a:srgbClr val="404040"/>
                </a:solidFill>
              </a:rPr>
              <a:t>corrélés</a:t>
            </a:r>
            <a:r>
              <a:rPr sz="2000" b="0" dirty="0">
                <a:solidFill>
                  <a:srgbClr val="404040"/>
                </a:solidFill>
              </a:rPr>
              <a:t> : </a:t>
            </a:r>
            <a:r>
              <a:rPr sz="2000" b="0" dirty="0" err="1">
                <a:solidFill>
                  <a:srgbClr val="404040"/>
                </a:solidFill>
              </a:rPr>
              <a:t>taux</a:t>
            </a:r>
            <a:r>
              <a:rPr sz="2000" b="0" dirty="0">
                <a:solidFill>
                  <a:srgbClr val="404040"/>
                </a:solidFill>
              </a:rPr>
              <a:t> de </a:t>
            </a:r>
            <a:r>
              <a:rPr sz="2000" b="0" dirty="0" err="1">
                <a:solidFill>
                  <a:srgbClr val="404040"/>
                </a:solidFill>
              </a:rPr>
              <a:t>présence</a:t>
            </a:r>
            <a:r>
              <a:rPr sz="2000" b="0" dirty="0">
                <a:solidFill>
                  <a:srgbClr val="404040"/>
                </a:solidFill>
              </a:rPr>
              <a:t>, </a:t>
            </a:r>
            <a:r>
              <a:rPr sz="2000" b="0" dirty="0" err="1">
                <a:solidFill>
                  <a:srgbClr val="404040"/>
                </a:solidFill>
              </a:rPr>
              <a:t>connexions</a:t>
            </a:r>
            <a:r>
              <a:rPr sz="2000" b="0" dirty="0">
                <a:solidFill>
                  <a:srgbClr val="404040"/>
                </a:solidFill>
              </a:rPr>
              <a:t> LMS, engagement numérique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280160"/>
            <a:ext cx="6088966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watermar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458663" y="6446520"/>
            <a:ext cx="550152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dirty="0">
                <a:solidFill>
                  <a:srgbClr val="999999"/>
                </a:solidFill>
              </a:rPr>
              <a:t>8 / 2</a:t>
            </a:r>
            <a:r>
              <a:rPr lang="fr-FR" sz="1200" dirty="0">
                <a:solidFill>
                  <a:srgbClr val="999999"/>
                </a:solidFill>
              </a:rPr>
              <a:t>2</a:t>
            </a:r>
            <a:endParaRPr sz="1200" dirty="0">
              <a:solidFill>
                <a:srgbClr val="999999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99999"/>
                </a:solidFill>
              </a:rPr>
              <a:t>© Proxiel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3A5F"/>
                </a:solidFill>
              </a:rPr>
              <a:t>Préparation des données</a:t>
            </a:r>
          </a:p>
        </p:txBody>
      </p:sp>
      <p:pic>
        <p:nvPicPr>
          <p:cNvPr id="6" name="Picture 5" descr="fun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1920240"/>
            <a:ext cx="274320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280160"/>
            <a:ext cx="8229600" cy="3631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endParaRPr lang="fr-FR" sz="2000" b="0" dirty="0">
              <a:solidFill>
                <a:srgbClr val="404040"/>
              </a:solidFill>
            </a:endParaRPr>
          </a:p>
          <a:p>
            <a:pPr>
              <a:spcAft>
                <a:spcPts val="1000"/>
              </a:spcAft>
            </a:pPr>
            <a:endParaRPr lang="fr-FR" sz="2000" dirty="0">
              <a:solidFill>
                <a:srgbClr val="404040"/>
              </a:solidFill>
            </a:endParaRPr>
          </a:p>
          <a:p>
            <a:pPr>
              <a:spcAft>
                <a:spcPts val="1000"/>
              </a:spcAft>
            </a:pPr>
            <a:r>
              <a:rPr sz="2000" b="0" dirty="0">
                <a:solidFill>
                  <a:srgbClr val="404040"/>
                </a:solidFill>
              </a:rPr>
              <a:t>• Pipeline bronze → silver → gold : </a:t>
            </a:r>
            <a:r>
              <a:rPr sz="2000" b="0" dirty="0" err="1">
                <a:solidFill>
                  <a:srgbClr val="404040"/>
                </a:solidFill>
              </a:rPr>
              <a:t>nettoyage</a:t>
            </a:r>
            <a:r>
              <a:rPr sz="2000" b="0" dirty="0">
                <a:solidFill>
                  <a:srgbClr val="404040"/>
                </a:solidFill>
              </a:rPr>
              <a:t>, </a:t>
            </a:r>
            <a:r>
              <a:rPr sz="2000" b="0" dirty="0" err="1">
                <a:solidFill>
                  <a:srgbClr val="404040"/>
                </a:solidFill>
              </a:rPr>
              <a:t>homogénéisation</a:t>
            </a:r>
            <a:r>
              <a:rPr sz="2000" b="0" dirty="0">
                <a:solidFill>
                  <a:srgbClr val="404040"/>
                </a:solidFill>
              </a:rPr>
              <a:t>, </a:t>
            </a:r>
            <a:r>
              <a:rPr sz="2000" b="0" dirty="0" err="1">
                <a:solidFill>
                  <a:srgbClr val="404040"/>
                </a:solidFill>
              </a:rPr>
              <a:t>encodage</a:t>
            </a:r>
            <a:endParaRPr sz="2000" b="0" dirty="0">
              <a:solidFill>
                <a:srgbClr val="404040"/>
              </a:solidFill>
            </a:endParaRPr>
          </a:p>
          <a:p>
            <a:pPr>
              <a:spcAft>
                <a:spcPts val="1000"/>
              </a:spcAft>
            </a:pPr>
            <a:r>
              <a:rPr sz="2000" b="0" dirty="0">
                <a:solidFill>
                  <a:srgbClr val="404040"/>
                </a:solidFill>
              </a:rPr>
              <a:t>• Variables à </a:t>
            </a:r>
            <a:r>
              <a:rPr sz="2000" b="0" dirty="0" err="1">
                <a:solidFill>
                  <a:srgbClr val="404040"/>
                </a:solidFill>
              </a:rPr>
              <a:t>fuite</a:t>
            </a:r>
            <a:r>
              <a:rPr sz="2000" b="0" dirty="0">
                <a:solidFill>
                  <a:srgbClr val="404040"/>
                </a:solidFill>
              </a:rPr>
              <a:t> </a:t>
            </a:r>
            <a:r>
              <a:rPr sz="2000" b="0" dirty="0" err="1">
                <a:solidFill>
                  <a:srgbClr val="404040"/>
                </a:solidFill>
              </a:rPr>
              <a:t>temporelle</a:t>
            </a:r>
            <a:r>
              <a:rPr sz="2000" b="0" dirty="0">
                <a:solidFill>
                  <a:srgbClr val="404040"/>
                </a:solidFill>
              </a:rPr>
              <a:t> </a:t>
            </a:r>
            <a:r>
              <a:rPr sz="2000" b="0" dirty="0" err="1">
                <a:solidFill>
                  <a:srgbClr val="404040"/>
                </a:solidFill>
              </a:rPr>
              <a:t>exclues</a:t>
            </a:r>
            <a:r>
              <a:rPr sz="2000" b="0" dirty="0">
                <a:solidFill>
                  <a:srgbClr val="404040"/>
                </a:solidFill>
              </a:rPr>
              <a:t> (`moyenne_partiels_s1`, `nb_ue_validees_s1`...)</a:t>
            </a:r>
          </a:p>
          <a:p>
            <a:pPr>
              <a:spcAft>
                <a:spcPts val="1000"/>
              </a:spcAft>
            </a:pPr>
            <a:r>
              <a:rPr sz="2000" b="0" dirty="0">
                <a:solidFill>
                  <a:srgbClr val="404040"/>
                </a:solidFill>
              </a:rPr>
              <a:t>• Variables "</a:t>
            </a:r>
            <a:r>
              <a:rPr sz="2000" b="0" dirty="0" err="1">
                <a:solidFill>
                  <a:srgbClr val="404040"/>
                </a:solidFill>
              </a:rPr>
              <a:t>leurres</a:t>
            </a:r>
            <a:r>
              <a:rPr sz="2000" b="0" dirty="0">
                <a:solidFill>
                  <a:srgbClr val="404040"/>
                </a:solidFill>
              </a:rPr>
              <a:t>" </a:t>
            </a:r>
            <a:r>
              <a:rPr sz="2000" b="0" dirty="0" err="1">
                <a:solidFill>
                  <a:srgbClr val="404040"/>
                </a:solidFill>
              </a:rPr>
              <a:t>détectées</a:t>
            </a:r>
            <a:r>
              <a:rPr sz="2000" b="0" dirty="0">
                <a:solidFill>
                  <a:srgbClr val="404040"/>
                </a:solidFill>
              </a:rPr>
              <a:t> et </a:t>
            </a:r>
            <a:r>
              <a:rPr sz="2000" b="0" dirty="0" err="1">
                <a:solidFill>
                  <a:srgbClr val="404040"/>
                </a:solidFill>
              </a:rPr>
              <a:t>exclues</a:t>
            </a:r>
            <a:r>
              <a:rPr sz="2000" b="0" dirty="0">
                <a:solidFill>
                  <a:srgbClr val="404040"/>
                </a:solidFill>
              </a:rPr>
              <a:t> (`</a:t>
            </a:r>
            <a:r>
              <a:rPr sz="2000" b="0" dirty="0" err="1">
                <a:solidFill>
                  <a:srgbClr val="404040"/>
                </a:solidFill>
              </a:rPr>
              <a:t>groupe_td</a:t>
            </a:r>
            <a:r>
              <a:rPr sz="2000" b="0" dirty="0">
                <a:solidFill>
                  <a:srgbClr val="404040"/>
                </a:solidFill>
              </a:rPr>
              <a:t>`, `</a:t>
            </a:r>
            <a:r>
              <a:rPr sz="2000" b="0" dirty="0" err="1">
                <a:solidFill>
                  <a:srgbClr val="404040"/>
                </a:solidFill>
              </a:rPr>
              <a:t>couleur_carte_etudiante</a:t>
            </a:r>
            <a:r>
              <a:rPr sz="2000" b="0" dirty="0">
                <a:solidFill>
                  <a:srgbClr val="404040"/>
                </a:solidFill>
              </a:rPr>
              <a:t>`...)</a:t>
            </a:r>
          </a:p>
          <a:p>
            <a:pPr>
              <a:spcAft>
                <a:spcPts val="1000"/>
              </a:spcAft>
            </a:pPr>
            <a:r>
              <a:rPr sz="2000" b="0" dirty="0">
                <a:solidFill>
                  <a:srgbClr val="404040"/>
                </a:solidFill>
              </a:rPr>
              <a:t>• Feature engineering : </a:t>
            </a:r>
            <a:r>
              <a:rPr sz="2000" b="0" dirty="0" err="1">
                <a:solidFill>
                  <a:srgbClr val="404040"/>
                </a:solidFill>
              </a:rPr>
              <a:t>taux</a:t>
            </a:r>
            <a:r>
              <a:rPr sz="2000" b="0" dirty="0">
                <a:solidFill>
                  <a:srgbClr val="404040"/>
                </a:solidFill>
              </a:rPr>
              <a:t> de </a:t>
            </a:r>
            <a:r>
              <a:rPr sz="2000" b="0" dirty="0" err="1">
                <a:solidFill>
                  <a:srgbClr val="404040"/>
                </a:solidFill>
              </a:rPr>
              <a:t>rendu</a:t>
            </a:r>
            <a:r>
              <a:rPr sz="2000" b="0" dirty="0">
                <a:solidFill>
                  <a:srgbClr val="404040"/>
                </a:solidFill>
              </a:rPr>
              <a:t> des devoirs</a:t>
            </a:r>
          </a:p>
          <a:p>
            <a:pPr>
              <a:spcAft>
                <a:spcPts val="1000"/>
              </a:spcAft>
            </a:pPr>
            <a:r>
              <a:rPr sz="2000" b="0" dirty="0">
                <a:solidFill>
                  <a:srgbClr val="404040"/>
                </a:solidFill>
              </a:rPr>
              <a:t>• </a:t>
            </a:r>
            <a:r>
              <a:rPr sz="2000" b="0" dirty="0" err="1">
                <a:solidFill>
                  <a:srgbClr val="404040"/>
                </a:solidFill>
              </a:rPr>
              <a:t>Règle</a:t>
            </a:r>
            <a:r>
              <a:rPr sz="2000" b="0" dirty="0">
                <a:solidFill>
                  <a:srgbClr val="404040"/>
                </a:solidFill>
              </a:rPr>
              <a:t> d'or </a:t>
            </a:r>
            <a:r>
              <a:rPr sz="2000" b="0" dirty="0" err="1">
                <a:solidFill>
                  <a:srgbClr val="404040"/>
                </a:solidFill>
              </a:rPr>
              <a:t>respectée</a:t>
            </a:r>
            <a:r>
              <a:rPr sz="2000" b="0" dirty="0">
                <a:solidFill>
                  <a:srgbClr val="404040"/>
                </a:solidFill>
              </a:rPr>
              <a:t> : split train/test AVANT toute imputation (anti-</a:t>
            </a:r>
            <a:r>
              <a:rPr sz="2000" b="0" dirty="0" err="1">
                <a:solidFill>
                  <a:srgbClr val="404040"/>
                </a:solidFill>
              </a:rPr>
              <a:t>fuite</a:t>
            </a:r>
            <a:r>
              <a:rPr sz="2000" b="0" dirty="0">
                <a:solidFill>
                  <a:srgbClr val="404040"/>
                </a:solidFill>
              </a:rPr>
              <a:t>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watermar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458663" y="6446520"/>
            <a:ext cx="550152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dirty="0">
                <a:solidFill>
                  <a:srgbClr val="999999"/>
                </a:solidFill>
              </a:rPr>
              <a:t>9 / 2</a:t>
            </a:r>
            <a:r>
              <a:rPr lang="fr-FR" sz="1200" dirty="0">
                <a:solidFill>
                  <a:srgbClr val="999999"/>
                </a:solidFill>
              </a:rPr>
              <a:t>2</a:t>
            </a:r>
            <a:endParaRPr sz="1200" dirty="0">
              <a:solidFill>
                <a:srgbClr val="999999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99999"/>
                </a:solidFill>
              </a:rPr>
              <a:t>© Proxiel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3A5F"/>
                </a:solidFill>
              </a:rPr>
              <a:t>Choix du modèle — comparaison de 3 familles</a:t>
            </a:r>
          </a:p>
        </p:txBody>
      </p:sp>
      <p:pic>
        <p:nvPicPr>
          <p:cNvPr id="6" name="Picture 5" descr="podi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95560" y="2532888"/>
            <a:ext cx="1664208" cy="16642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1234440"/>
            <a:ext cx="10332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>
                <a:solidFill>
                  <a:srgbClr val="000000"/>
                </a:solidFill>
              </a:rPr>
              <a:t>Régression logistique, Random Forest, Gradient Boosting — comparés sur precision/recall/F1/ROC AUC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3512" y="1874519"/>
            <a:ext cx="7164669" cy="44348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watermar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380117" y="6446520"/>
            <a:ext cx="628698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dirty="0">
                <a:solidFill>
                  <a:srgbClr val="999999"/>
                </a:solidFill>
              </a:rPr>
              <a:t>10 / 2</a:t>
            </a:r>
            <a:r>
              <a:rPr lang="fr-FR" sz="1200" dirty="0">
                <a:solidFill>
                  <a:srgbClr val="999999"/>
                </a:solidFill>
              </a:rPr>
              <a:t>2</a:t>
            </a:r>
            <a:endParaRPr sz="1200" dirty="0">
              <a:solidFill>
                <a:srgbClr val="999999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99999"/>
                </a:solidFill>
              </a:rPr>
              <a:t>© Proxiel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"/>
            <a:ext cx="100584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b="1" dirty="0">
                <a:solidFill>
                  <a:srgbClr val="1F3A5F"/>
                </a:solidFill>
              </a:rPr>
              <a:t>Validation croisée et o</a:t>
            </a:r>
            <a:r>
              <a:rPr sz="3200" b="1" dirty="0" err="1">
                <a:solidFill>
                  <a:srgbClr val="1F3A5F"/>
                </a:solidFill>
              </a:rPr>
              <a:t>ptimisation</a:t>
            </a:r>
            <a:r>
              <a:rPr sz="3200" b="1" dirty="0">
                <a:solidFill>
                  <a:srgbClr val="1F3A5F"/>
                </a:solidFill>
              </a:rPr>
              <a:t> des </a:t>
            </a:r>
            <a:r>
              <a:rPr sz="3200" b="1" dirty="0" err="1">
                <a:solidFill>
                  <a:srgbClr val="1F3A5F"/>
                </a:solidFill>
              </a:rPr>
              <a:t>hyperparamètres</a:t>
            </a:r>
            <a:endParaRPr sz="3200" b="1" dirty="0">
              <a:solidFill>
                <a:srgbClr val="1F3A5F"/>
              </a:solidFill>
            </a:endParaRPr>
          </a:p>
        </p:txBody>
      </p:sp>
      <p:pic>
        <p:nvPicPr>
          <p:cNvPr id="6" name="Picture 5" descr="g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0" y="320040"/>
            <a:ext cx="1106424" cy="110642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874519"/>
            <a:ext cx="5577840" cy="22621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 dirty="0">
                <a:solidFill>
                  <a:srgbClr val="404040"/>
                </a:solidFill>
              </a:rPr>
              <a:t>Classification `abandon` (recherche sur ROC-AUC, validation </a:t>
            </a:r>
            <a:r>
              <a:rPr sz="1600" b="0" dirty="0" err="1">
                <a:solidFill>
                  <a:srgbClr val="404040"/>
                </a:solidFill>
              </a:rPr>
              <a:t>croisée</a:t>
            </a:r>
            <a:r>
              <a:rPr sz="1600" b="0" dirty="0">
                <a:solidFill>
                  <a:srgbClr val="404040"/>
                </a:solidFill>
              </a:rPr>
              <a:t> 5-fold) :</a:t>
            </a:r>
          </a:p>
          <a:p>
            <a:pPr lvl="1">
              <a:spcAft>
                <a:spcPts val="1000"/>
              </a:spcAft>
            </a:pPr>
            <a:r>
              <a:rPr sz="1400" b="0" dirty="0">
                <a:solidFill>
                  <a:srgbClr val="404040"/>
                </a:solidFill>
              </a:rPr>
              <a:t>– </a:t>
            </a:r>
            <a:r>
              <a:rPr sz="1400" b="0" dirty="0" err="1">
                <a:solidFill>
                  <a:srgbClr val="404040"/>
                </a:solidFill>
              </a:rPr>
              <a:t>Régression</a:t>
            </a:r>
            <a:r>
              <a:rPr sz="1400" b="0" dirty="0">
                <a:solidFill>
                  <a:srgbClr val="404040"/>
                </a:solidFill>
              </a:rPr>
              <a:t> </a:t>
            </a:r>
            <a:r>
              <a:rPr sz="1400" b="0" dirty="0" err="1">
                <a:solidFill>
                  <a:srgbClr val="404040"/>
                </a:solidFill>
              </a:rPr>
              <a:t>logistique</a:t>
            </a:r>
            <a:r>
              <a:rPr sz="1400" b="0" dirty="0">
                <a:solidFill>
                  <a:srgbClr val="404040"/>
                </a:solidFill>
              </a:rPr>
              <a:t> : `C` </a:t>
            </a:r>
            <a:r>
              <a:rPr sz="1400" b="0" dirty="0" err="1">
                <a:solidFill>
                  <a:srgbClr val="404040"/>
                </a:solidFill>
              </a:rPr>
              <a:t>testé</a:t>
            </a:r>
            <a:r>
              <a:rPr sz="1400" b="0" dirty="0">
                <a:solidFill>
                  <a:srgbClr val="404040"/>
                </a:solidFill>
              </a:rPr>
              <a:t> sur {0.01, 0.1, 1, 10} → C=0.01 </a:t>
            </a:r>
            <a:r>
              <a:rPr sz="1400" b="0" dirty="0" err="1">
                <a:solidFill>
                  <a:srgbClr val="404040"/>
                </a:solidFill>
              </a:rPr>
              <a:t>retenu</a:t>
            </a:r>
            <a:r>
              <a:rPr sz="1400" b="0" dirty="0">
                <a:solidFill>
                  <a:srgbClr val="404040"/>
                </a:solidFill>
              </a:rPr>
              <a:t> (AUC CV 0,947)</a:t>
            </a:r>
          </a:p>
          <a:p>
            <a:pPr lvl="1">
              <a:spcAft>
                <a:spcPts val="1000"/>
              </a:spcAft>
            </a:pPr>
            <a:r>
              <a:rPr sz="1400" b="0" dirty="0">
                <a:solidFill>
                  <a:srgbClr val="404040"/>
                </a:solidFill>
              </a:rPr>
              <a:t>– Random Forest et Gradient Boosting </a:t>
            </a:r>
            <a:r>
              <a:rPr sz="1400" b="0" dirty="0" err="1">
                <a:solidFill>
                  <a:srgbClr val="404040"/>
                </a:solidFill>
              </a:rPr>
              <a:t>également</a:t>
            </a:r>
            <a:r>
              <a:rPr sz="1400" b="0" dirty="0">
                <a:solidFill>
                  <a:srgbClr val="404040"/>
                </a:solidFill>
              </a:rPr>
              <a:t> </a:t>
            </a:r>
            <a:r>
              <a:rPr sz="1400" b="0" dirty="0" err="1">
                <a:solidFill>
                  <a:srgbClr val="404040"/>
                </a:solidFill>
              </a:rPr>
              <a:t>tunés</a:t>
            </a:r>
            <a:r>
              <a:rPr sz="1400" b="0" dirty="0">
                <a:solidFill>
                  <a:srgbClr val="404040"/>
                </a:solidFill>
              </a:rPr>
              <a:t> (</a:t>
            </a:r>
            <a:r>
              <a:rPr sz="1400" b="0" dirty="0" err="1">
                <a:solidFill>
                  <a:srgbClr val="404040"/>
                </a:solidFill>
              </a:rPr>
              <a:t>nb</a:t>
            </a:r>
            <a:r>
              <a:rPr sz="1400" b="0" dirty="0">
                <a:solidFill>
                  <a:srgbClr val="404040"/>
                </a:solidFill>
              </a:rPr>
              <a:t> </a:t>
            </a:r>
            <a:r>
              <a:rPr sz="1400" b="0" dirty="0" err="1">
                <a:solidFill>
                  <a:srgbClr val="404040"/>
                </a:solidFill>
              </a:rPr>
              <a:t>d'arbres</a:t>
            </a:r>
            <a:r>
              <a:rPr sz="1400" b="0" dirty="0">
                <a:solidFill>
                  <a:srgbClr val="404040"/>
                </a:solidFill>
              </a:rPr>
              <a:t>, </a:t>
            </a:r>
            <a:r>
              <a:rPr sz="1400" b="0" dirty="0" err="1">
                <a:solidFill>
                  <a:srgbClr val="404040"/>
                </a:solidFill>
              </a:rPr>
              <a:t>profondeur</a:t>
            </a:r>
            <a:r>
              <a:rPr sz="1400" b="0" dirty="0">
                <a:solidFill>
                  <a:srgbClr val="404040"/>
                </a:solidFill>
              </a:rPr>
              <a:t>...)</a:t>
            </a:r>
          </a:p>
          <a:p>
            <a:pPr lvl="1">
              <a:spcAft>
                <a:spcPts val="1000"/>
              </a:spcAft>
            </a:pPr>
            <a:r>
              <a:rPr sz="1400" b="0" dirty="0">
                <a:solidFill>
                  <a:srgbClr val="404040"/>
                </a:solidFill>
              </a:rPr>
              <a:t>– </a:t>
            </a:r>
            <a:r>
              <a:rPr sz="1400" b="0" dirty="0" err="1">
                <a:solidFill>
                  <a:srgbClr val="404040"/>
                </a:solidFill>
              </a:rPr>
              <a:t>Classement</a:t>
            </a:r>
            <a:r>
              <a:rPr sz="1400" b="0" dirty="0">
                <a:solidFill>
                  <a:srgbClr val="404040"/>
                </a:solidFill>
              </a:rPr>
              <a:t> </a:t>
            </a:r>
            <a:r>
              <a:rPr sz="1400" b="0" dirty="0" err="1">
                <a:solidFill>
                  <a:srgbClr val="404040"/>
                </a:solidFill>
              </a:rPr>
              <a:t>inchangé</a:t>
            </a:r>
            <a:r>
              <a:rPr sz="1400" b="0" dirty="0">
                <a:solidFill>
                  <a:srgbClr val="404040"/>
                </a:solidFill>
              </a:rPr>
              <a:t> après tuning : la </a:t>
            </a:r>
            <a:r>
              <a:rPr sz="1400" b="0" dirty="0" err="1">
                <a:solidFill>
                  <a:srgbClr val="404040"/>
                </a:solidFill>
              </a:rPr>
              <a:t>régression</a:t>
            </a:r>
            <a:r>
              <a:rPr sz="1400" b="0" dirty="0">
                <a:solidFill>
                  <a:srgbClr val="404040"/>
                </a:solidFill>
              </a:rPr>
              <a:t> </a:t>
            </a:r>
            <a:r>
              <a:rPr sz="1400" b="0" dirty="0" err="1">
                <a:solidFill>
                  <a:srgbClr val="404040"/>
                </a:solidFill>
              </a:rPr>
              <a:t>logistique</a:t>
            </a:r>
            <a:r>
              <a:rPr sz="1400" b="0" dirty="0">
                <a:solidFill>
                  <a:srgbClr val="404040"/>
                </a:solidFill>
              </a:rPr>
              <a:t> </a:t>
            </a:r>
            <a:r>
              <a:rPr sz="1400" b="0" dirty="0" err="1">
                <a:solidFill>
                  <a:srgbClr val="404040"/>
                </a:solidFill>
              </a:rPr>
              <a:t>reste</a:t>
            </a:r>
            <a:r>
              <a:rPr sz="1400" b="0" dirty="0">
                <a:solidFill>
                  <a:srgbClr val="404040"/>
                </a:solidFill>
              </a:rPr>
              <a:t> </a:t>
            </a:r>
            <a:r>
              <a:rPr sz="1400" b="0" dirty="0" err="1">
                <a:solidFill>
                  <a:srgbClr val="404040"/>
                </a:solidFill>
              </a:rPr>
              <a:t>devant</a:t>
            </a:r>
            <a:endParaRPr sz="1400" b="0" dirty="0">
              <a:solidFill>
                <a:srgbClr val="404040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16429" y="994797"/>
            <a:ext cx="6972358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dirty="0" err="1">
                <a:solidFill>
                  <a:srgbClr val="000000"/>
                </a:solidFill>
              </a:rPr>
              <a:t>Stabilité</a:t>
            </a:r>
            <a:r>
              <a:rPr sz="2000" dirty="0">
                <a:solidFill>
                  <a:srgbClr val="000000"/>
                </a:solidFill>
              </a:rPr>
              <a:t> </a:t>
            </a:r>
            <a:r>
              <a:rPr sz="2000" dirty="0" err="1">
                <a:solidFill>
                  <a:srgbClr val="000000"/>
                </a:solidFill>
              </a:rPr>
              <a:t>confirmée</a:t>
            </a:r>
            <a:r>
              <a:rPr sz="2000" dirty="0">
                <a:solidFill>
                  <a:srgbClr val="000000"/>
                </a:solidFill>
              </a:rPr>
              <a:t> par validation </a:t>
            </a:r>
            <a:r>
              <a:rPr sz="2000" dirty="0" err="1">
                <a:solidFill>
                  <a:srgbClr val="000000"/>
                </a:solidFill>
              </a:rPr>
              <a:t>croisée</a:t>
            </a:r>
            <a:r>
              <a:rPr sz="2000" dirty="0">
                <a:solidFill>
                  <a:srgbClr val="000000"/>
                </a:solidFill>
              </a:rPr>
              <a:t> (5-fold) avant tuning </a:t>
            </a:r>
            <a:endParaRPr lang="fr-FR" sz="2000" dirty="0">
              <a:solidFill>
                <a:srgbClr val="000000"/>
              </a:solidFill>
            </a:endParaRPr>
          </a:p>
          <a:p>
            <a:r>
              <a:rPr lang="fr-FR" sz="2000" dirty="0">
                <a:solidFill>
                  <a:srgbClr val="000000"/>
                </a:solidFill>
              </a:rPr>
              <a:t>=&gt;</a:t>
            </a:r>
            <a:r>
              <a:rPr sz="2000" dirty="0">
                <a:solidFill>
                  <a:srgbClr val="000000"/>
                </a:solidFill>
              </a:rPr>
              <a:t> les </a:t>
            </a:r>
            <a:r>
              <a:rPr sz="2000" dirty="0" err="1">
                <a:solidFill>
                  <a:srgbClr val="000000"/>
                </a:solidFill>
              </a:rPr>
              <a:t>écarts</a:t>
            </a:r>
            <a:r>
              <a:rPr sz="2000" dirty="0">
                <a:solidFill>
                  <a:srgbClr val="000000"/>
                </a:solidFill>
              </a:rPr>
              <a:t> entre </a:t>
            </a:r>
            <a:r>
              <a:rPr sz="2000" dirty="0" err="1">
                <a:solidFill>
                  <a:srgbClr val="000000"/>
                </a:solidFill>
              </a:rPr>
              <a:t>modèles</a:t>
            </a:r>
            <a:r>
              <a:rPr sz="2000" dirty="0">
                <a:solidFill>
                  <a:srgbClr val="000000"/>
                </a:solidFill>
              </a:rPr>
              <a:t> ne </a:t>
            </a:r>
            <a:r>
              <a:rPr sz="2000" dirty="0" err="1">
                <a:solidFill>
                  <a:srgbClr val="000000"/>
                </a:solidFill>
              </a:rPr>
              <a:t>sont</a:t>
            </a:r>
            <a:r>
              <a:rPr sz="2000" dirty="0">
                <a:solidFill>
                  <a:srgbClr val="000000"/>
                </a:solidFill>
              </a:rPr>
              <a:t> pas un artefact d'un seul split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5717" y="2031867"/>
            <a:ext cx="5966643" cy="371970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watermar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380117" y="6446520"/>
            <a:ext cx="628698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dirty="0">
                <a:solidFill>
                  <a:srgbClr val="999999"/>
                </a:solidFill>
              </a:rPr>
              <a:t>11 / 2</a:t>
            </a:r>
            <a:r>
              <a:rPr lang="fr-FR" sz="1200" dirty="0">
                <a:solidFill>
                  <a:srgbClr val="999999"/>
                </a:solidFill>
              </a:rPr>
              <a:t>2</a:t>
            </a:r>
            <a:endParaRPr sz="1200" dirty="0">
              <a:solidFill>
                <a:srgbClr val="999999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99999"/>
                </a:solidFill>
              </a:rPr>
              <a:t>© Proxiel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3A5F"/>
                </a:solidFill>
              </a:rPr>
              <a:t>Diagnostic — matrices de confusion</a:t>
            </a:r>
          </a:p>
        </p:txBody>
      </p:sp>
      <p:pic>
        <p:nvPicPr>
          <p:cNvPr id="6" name="Picture 5" descr="grid_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0" y="320040"/>
            <a:ext cx="502920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67280" y="1234440"/>
            <a:ext cx="9112559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dirty="0">
                <a:solidFill>
                  <a:srgbClr val="000000"/>
                </a:solidFill>
              </a:rPr>
              <a:t>La </a:t>
            </a:r>
            <a:r>
              <a:rPr sz="2000" dirty="0" err="1">
                <a:solidFill>
                  <a:srgbClr val="000000"/>
                </a:solidFill>
              </a:rPr>
              <a:t>régression</a:t>
            </a:r>
            <a:r>
              <a:rPr sz="2000" dirty="0">
                <a:solidFill>
                  <a:srgbClr val="000000"/>
                </a:solidFill>
              </a:rPr>
              <a:t> </a:t>
            </a:r>
            <a:r>
              <a:rPr sz="2000" dirty="0" err="1">
                <a:solidFill>
                  <a:srgbClr val="000000"/>
                </a:solidFill>
              </a:rPr>
              <a:t>logistique</a:t>
            </a:r>
            <a:r>
              <a:rPr sz="2000" dirty="0">
                <a:solidFill>
                  <a:srgbClr val="000000"/>
                </a:solidFill>
              </a:rPr>
              <a:t> fait le </a:t>
            </a:r>
            <a:r>
              <a:rPr sz="2000" dirty="0" err="1">
                <a:solidFill>
                  <a:srgbClr val="000000"/>
                </a:solidFill>
              </a:rPr>
              <a:t>moins</a:t>
            </a:r>
            <a:r>
              <a:rPr sz="2000" dirty="0">
                <a:solidFill>
                  <a:srgbClr val="000000"/>
                </a:solidFill>
              </a:rPr>
              <a:t> de faux </a:t>
            </a:r>
            <a:r>
              <a:rPr sz="2000" dirty="0" err="1">
                <a:solidFill>
                  <a:srgbClr val="000000"/>
                </a:solidFill>
              </a:rPr>
              <a:t>négatifs</a:t>
            </a:r>
            <a:r>
              <a:rPr sz="2000" dirty="0">
                <a:solidFill>
                  <a:srgbClr val="000000"/>
                </a:solidFill>
              </a:rPr>
              <a:t> des 3 </a:t>
            </a:r>
            <a:r>
              <a:rPr sz="2000" dirty="0" err="1">
                <a:solidFill>
                  <a:srgbClr val="000000"/>
                </a:solidFill>
              </a:rPr>
              <a:t>modèles</a:t>
            </a:r>
            <a:r>
              <a:rPr sz="2000" dirty="0">
                <a:solidFill>
                  <a:srgbClr val="000000"/>
                </a:solidFill>
              </a:rPr>
              <a:t> — </a:t>
            </a:r>
            <a:r>
              <a:rPr sz="2000" dirty="0" err="1">
                <a:solidFill>
                  <a:srgbClr val="000000"/>
                </a:solidFill>
              </a:rPr>
              <a:t>modèle</a:t>
            </a:r>
            <a:r>
              <a:rPr sz="2000" dirty="0">
                <a:solidFill>
                  <a:srgbClr val="000000"/>
                </a:solidFill>
              </a:rPr>
              <a:t> </a:t>
            </a:r>
            <a:r>
              <a:rPr sz="2000" dirty="0" err="1">
                <a:solidFill>
                  <a:srgbClr val="000000"/>
                </a:solidFill>
              </a:rPr>
              <a:t>retenu</a:t>
            </a:r>
            <a:endParaRPr sz="2000" dirty="0">
              <a:solidFill>
                <a:srgbClr val="000000"/>
              </a:solidFill>
            </a:endParaRP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487" y="1874519"/>
            <a:ext cx="10332720" cy="326844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watermar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380117" y="6446520"/>
            <a:ext cx="628698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dirty="0">
                <a:solidFill>
                  <a:srgbClr val="999999"/>
                </a:solidFill>
              </a:rPr>
              <a:t>12 / 2</a:t>
            </a:r>
            <a:r>
              <a:rPr lang="fr-FR" sz="1200" dirty="0">
                <a:solidFill>
                  <a:srgbClr val="999999"/>
                </a:solidFill>
              </a:rPr>
              <a:t>2</a:t>
            </a:r>
            <a:endParaRPr sz="1200" dirty="0">
              <a:solidFill>
                <a:srgbClr val="999999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99999"/>
                </a:solidFill>
              </a:rPr>
              <a:t>© Proxiel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3A5F"/>
                </a:solidFill>
              </a:rPr>
              <a:t>Diagnostic — courbes ROC et Précision-Rappel</a:t>
            </a:r>
          </a:p>
        </p:txBody>
      </p:sp>
      <p:pic>
        <p:nvPicPr>
          <p:cNvPr id="6" name="Picture 5" descr="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0" y="320040"/>
            <a:ext cx="795528" cy="7955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1234440"/>
            <a:ext cx="10332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>
                <a:solidFill>
                  <a:srgbClr val="000000"/>
                </a:solidFill>
              </a:rPr>
              <a:t>AUC 0,946 pour la régression logistique retenue, légèrement devant Gradient Boosting et Random Forest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7953" y="1874519"/>
            <a:ext cx="9175788" cy="44348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watermar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380117" y="6446520"/>
            <a:ext cx="628698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dirty="0">
                <a:solidFill>
                  <a:srgbClr val="999999"/>
                </a:solidFill>
              </a:rPr>
              <a:t>13 / 2</a:t>
            </a:r>
            <a:r>
              <a:rPr lang="fr-FR" sz="1200" dirty="0">
                <a:solidFill>
                  <a:srgbClr val="999999"/>
                </a:solidFill>
              </a:rPr>
              <a:t>2</a:t>
            </a:r>
            <a:endParaRPr sz="1200" dirty="0">
              <a:solidFill>
                <a:srgbClr val="999999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99999"/>
                </a:solidFill>
              </a:rPr>
              <a:t>© Proxiel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3A5F"/>
                </a:solidFill>
              </a:rPr>
              <a:t>Choix du seuil de décision</a:t>
            </a:r>
          </a:p>
        </p:txBody>
      </p:sp>
      <p:pic>
        <p:nvPicPr>
          <p:cNvPr id="6" name="Picture 5" descr="d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0" y="320040"/>
            <a:ext cx="502920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1234440"/>
            <a:ext cx="10332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>
                <a:solidFill>
                  <a:srgbClr val="000000"/>
                </a:solidFill>
              </a:rPr>
              <a:t>Seuil retenu par défaut : 0,5 (coïncide avec l'optimum F1) — alternative à 0,33 chiffrée plus loin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487" y="1874519"/>
            <a:ext cx="10332720" cy="318630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watermar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380117" y="6446520"/>
            <a:ext cx="628698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dirty="0">
                <a:solidFill>
                  <a:srgbClr val="999999"/>
                </a:solidFill>
              </a:rPr>
              <a:t>14 / 2</a:t>
            </a:r>
            <a:r>
              <a:rPr lang="fr-FR" sz="1200" dirty="0">
                <a:solidFill>
                  <a:srgbClr val="999999"/>
                </a:solidFill>
              </a:rPr>
              <a:t>2</a:t>
            </a:r>
            <a:endParaRPr sz="1200" dirty="0">
              <a:solidFill>
                <a:srgbClr val="999999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99999"/>
                </a:solidFill>
              </a:rPr>
              <a:t>© Proxiel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3A5F"/>
                </a:solidFill>
              </a:rPr>
              <a:t>Explicabilité globale — SHAP</a:t>
            </a:r>
          </a:p>
        </p:txBody>
      </p:sp>
      <p:pic>
        <p:nvPicPr>
          <p:cNvPr id="6" name="Picture 5" descr="lightbu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0" y="320040"/>
            <a:ext cx="502920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1234440"/>
            <a:ext cx="10332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>
                <a:solidFill>
                  <a:srgbClr val="000000"/>
                </a:solidFill>
              </a:rPr>
              <a:t>`taux_presence_pct` est de loin le facteur le plus déterminant, suivi de la motivation et de l'engagement LMS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6581" y="1874519"/>
            <a:ext cx="4698533" cy="44348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watermar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380117" y="6446520"/>
            <a:ext cx="628698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dirty="0">
                <a:solidFill>
                  <a:srgbClr val="999999"/>
                </a:solidFill>
              </a:rPr>
              <a:t>15 / 2</a:t>
            </a:r>
            <a:r>
              <a:rPr lang="fr-FR" sz="1200" dirty="0">
                <a:solidFill>
                  <a:srgbClr val="999999"/>
                </a:solidFill>
              </a:rPr>
              <a:t>2</a:t>
            </a:r>
            <a:endParaRPr sz="1200" dirty="0">
              <a:solidFill>
                <a:srgbClr val="999999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99999"/>
                </a:solidFill>
              </a:rPr>
              <a:t>© Proxiel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"/>
            <a:ext cx="1062532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dirty="0" err="1">
                <a:solidFill>
                  <a:srgbClr val="1F3A5F"/>
                </a:solidFill>
              </a:rPr>
              <a:t>Explicabilité</a:t>
            </a:r>
            <a:r>
              <a:rPr sz="3200" b="1" dirty="0">
                <a:solidFill>
                  <a:srgbClr val="1F3A5F"/>
                </a:solidFill>
              </a:rPr>
              <a:t> </a:t>
            </a:r>
            <a:r>
              <a:rPr sz="3200" b="1" dirty="0" err="1">
                <a:solidFill>
                  <a:srgbClr val="1F3A5F"/>
                </a:solidFill>
              </a:rPr>
              <a:t>individuelle</a:t>
            </a:r>
            <a:r>
              <a:rPr sz="3200" b="1" dirty="0">
                <a:solidFill>
                  <a:srgbClr val="1F3A5F"/>
                </a:solidFill>
              </a:rPr>
              <a:t> — </a:t>
            </a:r>
            <a:r>
              <a:rPr sz="3200" b="1" dirty="0" err="1">
                <a:solidFill>
                  <a:srgbClr val="1F3A5F"/>
                </a:solidFill>
              </a:rPr>
              <a:t>pourquoi</a:t>
            </a:r>
            <a:r>
              <a:rPr sz="3200" b="1" dirty="0">
                <a:solidFill>
                  <a:srgbClr val="1F3A5F"/>
                </a:solidFill>
              </a:rPr>
              <a:t> CET </a:t>
            </a:r>
            <a:r>
              <a:rPr sz="3200" b="1" dirty="0" err="1">
                <a:solidFill>
                  <a:srgbClr val="1F3A5F"/>
                </a:solidFill>
              </a:rPr>
              <a:t>étudiant</a:t>
            </a:r>
            <a:r>
              <a:rPr sz="3200" b="1" dirty="0">
                <a:solidFill>
                  <a:srgbClr val="1F3A5F"/>
                </a:solidFill>
              </a:rPr>
              <a:t> est </a:t>
            </a:r>
            <a:r>
              <a:rPr sz="3200" b="1" dirty="0" err="1">
                <a:solidFill>
                  <a:srgbClr val="1F3A5F"/>
                </a:solidFill>
              </a:rPr>
              <a:t>signalé</a:t>
            </a:r>
            <a:endParaRPr sz="3200" b="1" dirty="0">
              <a:solidFill>
                <a:srgbClr val="1F3A5F"/>
              </a:solidFill>
            </a:endParaRPr>
          </a:p>
        </p:txBody>
      </p:sp>
      <p:pic>
        <p:nvPicPr>
          <p:cNvPr id="6" name="Picture 5" descr="magnif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82528" y="320040"/>
            <a:ext cx="502920" cy="502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99816" y="1058718"/>
            <a:ext cx="6367705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dirty="0" err="1">
                <a:solidFill>
                  <a:srgbClr val="000000"/>
                </a:solidFill>
              </a:rPr>
              <a:t>Étudiant</a:t>
            </a:r>
            <a:r>
              <a:rPr sz="2000" dirty="0">
                <a:solidFill>
                  <a:srgbClr val="000000"/>
                </a:solidFill>
              </a:rPr>
              <a:t> à </a:t>
            </a:r>
            <a:r>
              <a:rPr sz="2000" dirty="0" err="1">
                <a:solidFill>
                  <a:srgbClr val="000000"/>
                </a:solidFill>
              </a:rPr>
              <a:t>risque</a:t>
            </a:r>
            <a:r>
              <a:rPr sz="2000" dirty="0">
                <a:solidFill>
                  <a:srgbClr val="000000"/>
                </a:solidFill>
              </a:rPr>
              <a:t> (gauche) vs </a:t>
            </a:r>
            <a:r>
              <a:rPr sz="2000" dirty="0" err="1">
                <a:solidFill>
                  <a:srgbClr val="000000"/>
                </a:solidFill>
              </a:rPr>
              <a:t>étudiant</a:t>
            </a:r>
            <a:r>
              <a:rPr sz="2000" dirty="0">
                <a:solidFill>
                  <a:srgbClr val="000000"/>
                </a:solidFill>
              </a:rPr>
              <a:t> peu à </a:t>
            </a:r>
            <a:r>
              <a:rPr sz="2000" dirty="0" err="1">
                <a:solidFill>
                  <a:srgbClr val="000000"/>
                </a:solidFill>
              </a:rPr>
              <a:t>risque</a:t>
            </a:r>
            <a:r>
              <a:rPr sz="2000" dirty="0">
                <a:solidFill>
                  <a:srgbClr val="000000"/>
                </a:solidFill>
              </a:rPr>
              <a:t> (droite) </a:t>
            </a:r>
            <a:endParaRPr lang="fr-FR" sz="2000" dirty="0">
              <a:solidFill>
                <a:srgbClr val="000000"/>
              </a:solidFill>
            </a:endParaRPr>
          </a:p>
          <a:p>
            <a:r>
              <a:rPr sz="2000" dirty="0" err="1">
                <a:solidFill>
                  <a:srgbClr val="000000"/>
                </a:solidFill>
              </a:rPr>
              <a:t>chaque</a:t>
            </a:r>
            <a:r>
              <a:rPr sz="2000" dirty="0">
                <a:solidFill>
                  <a:srgbClr val="000000"/>
                </a:solidFill>
              </a:rPr>
              <a:t> barre = </a:t>
            </a:r>
            <a:r>
              <a:rPr sz="2000" dirty="0" err="1">
                <a:solidFill>
                  <a:srgbClr val="000000"/>
                </a:solidFill>
              </a:rPr>
              <a:t>une</a:t>
            </a:r>
            <a:r>
              <a:rPr sz="2000" dirty="0">
                <a:solidFill>
                  <a:srgbClr val="000000"/>
                </a:solidFill>
              </a:rPr>
              <a:t> variable de CET </a:t>
            </a:r>
            <a:r>
              <a:rPr sz="2000" dirty="0" err="1">
                <a:solidFill>
                  <a:srgbClr val="000000"/>
                </a:solidFill>
              </a:rPr>
              <a:t>étudiant</a:t>
            </a:r>
            <a:r>
              <a:rPr sz="2000" dirty="0">
                <a:solidFill>
                  <a:srgbClr val="000000"/>
                </a:solidFill>
              </a:rPr>
              <a:t> précis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039111"/>
            <a:ext cx="5577840" cy="4451144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0" y="2011679"/>
            <a:ext cx="5577840" cy="4396327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watermar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380117" y="6446520"/>
            <a:ext cx="628698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dirty="0">
                <a:solidFill>
                  <a:srgbClr val="999999"/>
                </a:solidFill>
              </a:rPr>
              <a:t>16 / 2</a:t>
            </a:r>
            <a:r>
              <a:rPr lang="fr-FR" sz="1200" dirty="0">
                <a:solidFill>
                  <a:srgbClr val="999999"/>
                </a:solidFill>
              </a:rPr>
              <a:t>2</a:t>
            </a:r>
            <a:endParaRPr sz="1200" dirty="0">
              <a:solidFill>
                <a:srgbClr val="999999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99999"/>
                </a:solidFill>
              </a:rPr>
              <a:t>© Proxiel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3A5F"/>
                </a:solidFill>
              </a:rPr>
              <a:t>Régression complémentaire — note finale probable</a:t>
            </a:r>
          </a:p>
        </p:txBody>
      </p:sp>
      <p:pic>
        <p:nvPicPr>
          <p:cNvPr id="6" name="Picture 5" descr="rul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8263" y="1133856"/>
            <a:ext cx="1627632" cy="16276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444752"/>
            <a:ext cx="8229600" cy="21954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 dirty="0">
                <a:solidFill>
                  <a:srgbClr val="404040"/>
                </a:solidFill>
              </a:rPr>
              <a:t>• </a:t>
            </a:r>
            <a:r>
              <a:rPr sz="2000" b="0" dirty="0" err="1">
                <a:solidFill>
                  <a:srgbClr val="404040"/>
                </a:solidFill>
              </a:rPr>
              <a:t>Cible</a:t>
            </a:r>
            <a:r>
              <a:rPr sz="2000" b="0" dirty="0">
                <a:solidFill>
                  <a:srgbClr val="404040"/>
                </a:solidFill>
              </a:rPr>
              <a:t> </a:t>
            </a:r>
            <a:r>
              <a:rPr sz="2000" b="0" dirty="0" err="1">
                <a:solidFill>
                  <a:srgbClr val="404040"/>
                </a:solidFill>
              </a:rPr>
              <a:t>secondaire</a:t>
            </a:r>
            <a:r>
              <a:rPr sz="2000" b="0" dirty="0">
                <a:solidFill>
                  <a:srgbClr val="404040"/>
                </a:solidFill>
              </a:rPr>
              <a:t> `</a:t>
            </a:r>
            <a:r>
              <a:rPr sz="2000" b="0" dirty="0" err="1">
                <a:solidFill>
                  <a:srgbClr val="404040"/>
                </a:solidFill>
              </a:rPr>
              <a:t>moyenne_finale</a:t>
            </a:r>
            <a:r>
              <a:rPr sz="2000" b="0" dirty="0">
                <a:solidFill>
                  <a:srgbClr val="404040"/>
                </a:solidFill>
              </a:rPr>
              <a:t>` : </a:t>
            </a:r>
            <a:r>
              <a:rPr sz="2000" b="0" dirty="0" err="1">
                <a:solidFill>
                  <a:srgbClr val="404040"/>
                </a:solidFill>
              </a:rPr>
              <a:t>comparaison</a:t>
            </a:r>
            <a:r>
              <a:rPr sz="2000" b="0" dirty="0">
                <a:solidFill>
                  <a:srgbClr val="404040"/>
                </a:solidFill>
              </a:rPr>
              <a:t> Ridge / Random Forest / Gradient Boosting</a:t>
            </a:r>
          </a:p>
          <a:p>
            <a:pPr>
              <a:spcAft>
                <a:spcPts val="1000"/>
              </a:spcAft>
            </a:pPr>
            <a:r>
              <a:rPr sz="2000" b="0" dirty="0">
                <a:solidFill>
                  <a:srgbClr val="404040"/>
                </a:solidFill>
              </a:rPr>
              <a:t>• Gradient Boosting Regressor </a:t>
            </a:r>
            <a:r>
              <a:rPr sz="2000" b="0" dirty="0" err="1">
                <a:solidFill>
                  <a:srgbClr val="404040"/>
                </a:solidFill>
              </a:rPr>
              <a:t>retenu</a:t>
            </a:r>
            <a:r>
              <a:rPr sz="2000" b="0" dirty="0">
                <a:solidFill>
                  <a:srgbClr val="404040"/>
                </a:solidFill>
              </a:rPr>
              <a:t> (à </a:t>
            </a:r>
            <a:r>
              <a:rPr sz="2000" b="0" dirty="0" err="1">
                <a:solidFill>
                  <a:srgbClr val="404040"/>
                </a:solidFill>
              </a:rPr>
              <a:t>l'inverse</a:t>
            </a:r>
            <a:r>
              <a:rPr sz="2000" b="0" dirty="0">
                <a:solidFill>
                  <a:srgbClr val="404040"/>
                </a:solidFill>
              </a:rPr>
              <a:t> de la classification) : la note </a:t>
            </a:r>
            <a:r>
              <a:rPr lang="fr-FR" sz="2000" b="0" dirty="0">
                <a:solidFill>
                  <a:srgbClr val="404040"/>
                </a:solidFill>
              </a:rPr>
              <a:t>est </a:t>
            </a:r>
            <a:r>
              <a:rPr sz="2000" b="0" dirty="0">
                <a:solidFill>
                  <a:srgbClr val="404040"/>
                </a:solidFill>
              </a:rPr>
              <a:t>continue</a:t>
            </a:r>
          </a:p>
          <a:p>
            <a:pPr>
              <a:spcAft>
                <a:spcPts val="1000"/>
              </a:spcAft>
            </a:pPr>
            <a:r>
              <a:rPr sz="2000" b="0" dirty="0">
                <a:solidFill>
                  <a:srgbClr val="404040"/>
                </a:solidFill>
              </a:rPr>
              <a:t>• </a:t>
            </a:r>
            <a:r>
              <a:rPr sz="2000" b="0" dirty="0" err="1">
                <a:solidFill>
                  <a:srgbClr val="404040"/>
                </a:solidFill>
              </a:rPr>
              <a:t>Sert</a:t>
            </a:r>
            <a:r>
              <a:rPr sz="2000" b="0" dirty="0">
                <a:solidFill>
                  <a:srgbClr val="404040"/>
                </a:solidFill>
              </a:rPr>
              <a:t> à </a:t>
            </a:r>
            <a:r>
              <a:rPr sz="2000" b="0" dirty="0" err="1">
                <a:solidFill>
                  <a:srgbClr val="404040"/>
                </a:solidFill>
              </a:rPr>
              <a:t>prioriser</a:t>
            </a:r>
            <a:r>
              <a:rPr sz="2000" b="0" dirty="0">
                <a:solidFill>
                  <a:srgbClr val="404040"/>
                </a:solidFill>
              </a:rPr>
              <a:t> et </a:t>
            </a:r>
            <a:r>
              <a:rPr sz="2000" b="0" dirty="0" err="1">
                <a:solidFill>
                  <a:srgbClr val="404040"/>
                </a:solidFill>
              </a:rPr>
              <a:t>calibrer</a:t>
            </a:r>
            <a:r>
              <a:rPr sz="2000" b="0" dirty="0">
                <a:solidFill>
                  <a:srgbClr val="404040"/>
                </a:solidFill>
              </a:rPr>
              <a:t> </a:t>
            </a:r>
            <a:r>
              <a:rPr sz="2000" b="0" dirty="0" err="1">
                <a:solidFill>
                  <a:srgbClr val="404040"/>
                </a:solidFill>
              </a:rPr>
              <a:t>l'accompagnement</a:t>
            </a:r>
            <a:r>
              <a:rPr sz="2000" b="0" dirty="0">
                <a:solidFill>
                  <a:srgbClr val="404040"/>
                </a:solidFill>
              </a:rPr>
              <a:t>, jamais à </a:t>
            </a:r>
            <a:r>
              <a:rPr sz="2000" b="0" dirty="0" err="1">
                <a:solidFill>
                  <a:srgbClr val="404040"/>
                </a:solidFill>
              </a:rPr>
              <a:t>prédire</a:t>
            </a:r>
            <a:r>
              <a:rPr sz="2000" b="0" dirty="0">
                <a:solidFill>
                  <a:srgbClr val="404040"/>
                </a:solidFill>
              </a:rPr>
              <a:t> </a:t>
            </a:r>
            <a:r>
              <a:rPr sz="2000" b="0" dirty="0" err="1">
                <a:solidFill>
                  <a:srgbClr val="404040"/>
                </a:solidFill>
              </a:rPr>
              <a:t>l'abandon</a:t>
            </a:r>
            <a:r>
              <a:rPr sz="2000" b="0" dirty="0">
                <a:solidFill>
                  <a:srgbClr val="404040"/>
                </a:solidFill>
              </a:rPr>
              <a:t> (anti-</a:t>
            </a:r>
            <a:r>
              <a:rPr sz="2000" b="0" dirty="0" err="1">
                <a:solidFill>
                  <a:srgbClr val="404040"/>
                </a:solidFill>
              </a:rPr>
              <a:t>fuite</a:t>
            </a:r>
            <a:r>
              <a:rPr sz="2000" b="0" dirty="0">
                <a:solidFill>
                  <a:srgbClr val="404040"/>
                </a:solidFill>
              </a:rPr>
              <a:t> </a:t>
            </a:r>
            <a:r>
              <a:rPr sz="2000" b="0" dirty="0" err="1">
                <a:solidFill>
                  <a:srgbClr val="404040"/>
                </a:solidFill>
              </a:rPr>
              <a:t>croisée</a:t>
            </a:r>
            <a:r>
              <a:rPr sz="2000" b="0" dirty="0">
                <a:solidFill>
                  <a:srgbClr val="404040"/>
                </a:solidFill>
              </a:rPr>
              <a:t>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8003238"/>
              </p:ext>
            </p:extLst>
          </p:nvPr>
        </p:nvGraphicFramePr>
        <p:xfrm>
          <a:off x="1097280" y="4215384"/>
          <a:ext cx="96012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0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00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003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800" b="1"/>
                        <a:t>Modèle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/>
                        <a:t>MAE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/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R²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Gradient Boosting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2,250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3,048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0,692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Random 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2,299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3,136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0,674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2,589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3,220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dirty="0"/>
                        <a:t>0,656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C975E3-F4B0-69AA-BE8B-E8E68C5B5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watermark_bg.png">
            <a:extLst>
              <a:ext uri="{FF2B5EF4-FFF2-40B4-BE49-F238E27FC236}">
                <a16:creationId xmlns:a16="http://schemas.microsoft.com/office/drawing/2014/main" id="{A92A4CFF-50DF-A61B-185D-06CD42FD61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2DC736B-8B14-40B5-9594-7BF8B2D5A7C3}"/>
              </a:ext>
            </a:extLst>
          </p:cNvPr>
          <p:cNvSpPr txBox="1"/>
          <p:nvPr/>
        </p:nvSpPr>
        <p:spPr>
          <a:xfrm>
            <a:off x="11380117" y="6446520"/>
            <a:ext cx="628698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dirty="0">
                <a:solidFill>
                  <a:srgbClr val="999999"/>
                </a:solidFill>
              </a:rPr>
              <a:t>1</a:t>
            </a:r>
            <a:r>
              <a:rPr lang="fr-FR" sz="1200" dirty="0">
                <a:solidFill>
                  <a:srgbClr val="999999"/>
                </a:solidFill>
              </a:rPr>
              <a:t>7</a:t>
            </a:r>
            <a:r>
              <a:rPr sz="1200" dirty="0">
                <a:solidFill>
                  <a:srgbClr val="999999"/>
                </a:solidFill>
              </a:rPr>
              <a:t> / 2</a:t>
            </a:r>
            <a:r>
              <a:rPr lang="fr-FR" sz="1200" dirty="0">
                <a:solidFill>
                  <a:srgbClr val="999999"/>
                </a:solidFill>
              </a:rPr>
              <a:t>2</a:t>
            </a:r>
            <a:endParaRPr sz="1200" dirty="0">
              <a:solidFill>
                <a:srgbClr val="999999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798B133-A7AE-660F-C23D-966738501E45}"/>
              </a:ext>
            </a:extLst>
          </p:cNvPr>
          <p:cNvSpPr txBox="1"/>
          <p:nvPr/>
        </p:nvSpPr>
        <p:spPr>
          <a:xfrm>
            <a:off x="365760" y="64465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99999"/>
                </a:solidFill>
              </a:rPr>
              <a:t>© Proxiel 2026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419E2B-02ED-973B-A5DD-1F7AB2EA2A94}"/>
              </a:ext>
            </a:extLst>
          </p:cNvPr>
          <p:cNvSpPr txBox="1"/>
          <p:nvPr/>
        </p:nvSpPr>
        <p:spPr>
          <a:xfrm>
            <a:off x="457200" y="274320"/>
            <a:ext cx="100584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b="1" dirty="0">
                <a:solidFill>
                  <a:srgbClr val="1F3A5F"/>
                </a:solidFill>
              </a:rPr>
              <a:t>Validation croisée et o</a:t>
            </a:r>
            <a:r>
              <a:rPr sz="3200" b="1" dirty="0" err="1">
                <a:solidFill>
                  <a:srgbClr val="1F3A5F"/>
                </a:solidFill>
              </a:rPr>
              <a:t>ptimisation</a:t>
            </a:r>
            <a:r>
              <a:rPr sz="3200" b="1" dirty="0">
                <a:solidFill>
                  <a:srgbClr val="1F3A5F"/>
                </a:solidFill>
              </a:rPr>
              <a:t> des </a:t>
            </a:r>
            <a:r>
              <a:rPr sz="3200" b="1" dirty="0" err="1">
                <a:solidFill>
                  <a:srgbClr val="1F3A5F"/>
                </a:solidFill>
              </a:rPr>
              <a:t>hyperparamètres</a:t>
            </a:r>
            <a:endParaRPr sz="3200" b="1" dirty="0">
              <a:solidFill>
                <a:srgbClr val="1F3A5F"/>
              </a:solidFill>
            </a:endParaRPr>
          </a:p>
        </p:txBody>
      </p:sp>
      <p:pic>
        <p:nvPicPr>
          <p:cNvPr id="6" name="Picture 5" descr="gear.png">
            <a:extLst>
              <a:ext uri="{FF2B5EF4-FFF2-40B4-BE49-F238E27FC236}">
                <a16:creationId xmlns:a16="http://schemas.microsoft.com/office/drawing/2014/main" id="{02F8174C-C5E2-1375-8345-972D31D127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4140" y="3013086"/>
            <a:ext cx="1531482" cy="153148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8E3C30D-A0A8-9352-5DEA-39FEC48FFC4C}"/>
              </a:ext>
            </a:extLst>
          </p:cNvPr>
          <p:cNvSpPr txBox="1"/>
          <p:nvPr/>
        </p:nvSpPr>
        <p:spPr>
          <a:xfrm>
            <a:off x="548640" y="1874519"/>
            <a:ext cx="7946136" cy="10259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 dirty="0" err="1">
                <a:solidFill>
                  <a:srgbClr val="404040"/>
                </a:solidFill>
              </a:rPr>
              <a:t>Régression</a:t>
            </a:r>
            <a:r>
              <a:rPr sz="1600" b="0" dirty="0">
                <a:solidFill>
                  <a:srgbClr val="404040"/>
                </a:solidFill>
              </a:rPr>
              <a:t> `</a:t>
            </a:r>
            <a:r>
              <a:rPr sz="1600" b="0" dirty="0" err="1">
                <a:solidFill>
                  <a:srgbClr val="404040"/>
                </a:solidFill>
              </a:rPr>
              <a:t>moyenne_finale</a:t>
            </a:r>
            <a:r>
              <a:rPr sz="1600" b="0" dirty="0">
                <a:solidFill>
                  <a:srgbClr val="404040"/>
                </a:solidFill>
              </a:rPr>
              <a:t>` (recherche sur R², </a:t>
            </a:r>
            <a:r>
              <a:rPr sz="1600" b="0" dirty="0" err="1">
                <a:solidFill>
                  <a:srgbClr val="404040"/>
                </a:solidFill>
              </a:rPr>
              <a:t>même</a:t>
            </a:r>
            <a:r>
              <a:rPr sz="1600" b="0" dirty="0">
                <a:solidFill>
                  <a:srgbClr val="404040"/>
                </a:solidFill>
              </a:rPr>
              <a:t> </a:t>
            </a:r>
            <a:r>
              <a:rPr sz="1600" b="0" dirty="0" err="1">
                <a:solidFill>
                  <a:srgbClr val="404040"/>
                </a:solidFill>
              </a:rPr>
              <a:t>méthode</a:t>
            </a:r>
            <a:r>
              <a:rPr sz="1600" b="0" dirty="0">
                <a:solidFill>
                  <a:srgbClr val="404040"/>
                </a:solidFill>
              </a:rPr>
              <a:t>) :</a:t>
            </a:r>
          </a:p>
          <a:p>
            <a:pPr lvl="1">
              <a:spcAft>
                <a:spcPts val="1000"/>
              </a:spcAft>
            </a:pPr>
            <a:r>
              <a:rPr sz="1400" b="0" dirty="0">
                <a:solidFill>
                  <a:srgbClr val="404040"/>
                </a:solidFill>
              </a:rPr>
              <a:t>– Ridge : alpha </a:t>
            </a:r>
            <a:r>
              <a:rPr sz="1400" b="0" dirty="0" err="1">
                <a:solidFill>
                  <a:srgbClr val="404040"/>
                </a:solidFill>
              </a:rPr>
              <a:t>testé</a:t>
            </a:r>
            <a:r>
              <a:rPr sz="1400" b="0" dirty="0">
                <a:solidFill>
                  <a:srgbClr val="404040"/>
                </a:solidFill>
              </a:rPr>
              <a:t> sur {0.1, 1, 10, 50} → alpha=50 </a:t>
            </a:r>
            <a:r>
              <a:rPr sz="1400" b="0" dirty="0" err="1">
                <a:solidFill>
                  <a:srgbClr val="404040"/>
                </a:solidFill>
              </a:rPr>
              <a:t>retenu</a:t>
            </a:r>
            <a:r>
              <a:rPr sz="1400" b="0" dirty="0">
                <a:solidFill>
                  <a:srgbClr val="404040"/>
                </a:solidFill>
              </a:rPr>
              <a:t> (R² CV 0,655)</a:t>
            </a:r>
          </a:p>
          <a:p>
            <a:pPr lvl="1">
              <a:spcAft>
                <a:spcPts val="1000"/>
              </a:spcAft>
            </a:pPr>
            <a:r>
              <a:rPr sz="1400" b="0" dirty="0">
                <a:solidFill>
                  <a:srgbClr val="404040"/>
                </a:solidFill>
              </a:rPr>
              <a:t>– Gradient Boosting </a:t>
            </a:r>
            <a:r>
              <a:rPr sz="1400" b="0" dirty="0" err="1">
                <a:solidFill>
                  <a:srgbClr val="404040"/>
                </a:solidFill>
              </a:rPr>
              <a:t>retenu</a:t>
            </a:r>
            <a:r>
              <a:rPr sz="1400" b="0" dirty="0">
                <a:solidFill>
                  <a:srgbClr val="404040"/>
                </a:solidFill>
              </a:rPr>
              <a:t> au final (R² CV 0,693), </a:t>
            </a:r>
            <a:r>
              <a:rPr sz="1400" b="0" dirty="0" err="1">
                <a:solidFill>
                  <a:srgbClr val="404040"/>
                </a:solidFill>
              </a:rPr>
              <a:t>meilleur</a:t>
            </a:r>
            <a:r>
              <a:rPr sz="1400" b="0" dirty="0">
                <a:solidFill>
                  <a:srgbClr val="404040"/>
                </a:solidFill>
              </a:rPr>
              <a:t> </a:t>
            </a:r>
            <a:r>
              <a:rPr sz="1400" b="0" dirty="0" err="1">
                <a:solidFill>
                  <a:srgbClr val="404040"/>
                </a:solidFill>
              </a:rPr>
              <a:t>que</a:t>
            </a:r>
            <a:r>
              <a:rPr sz="1400" b="0" dirty="0">
                <a:solidFill>
                  <a:srgbClr val="404040"/>
                </a:solidFill>
              </a:rPr>
              <a:t> Ridge et Random Forest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A35266-6E48-B8CB-6110-593FF1955C63}"/>
              </a:ext>
            </a:extLst>
          </p:cNvPr>
          <p:cNvSpPr txBox="1"/>
          <p:nvPr/>
        </p:nvSpPr>
        <p:spPr>
          <a:xfrm>
            <a:off x="616428" y="994797"/>
            <a:ext cx="1092329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dirty="0" err="1">
                <a:solidFill>
                  <a:srgbClr val="000000"/>
                </a:solidFill>
              </a:rPr>
              <a:t>Stabilité</a:t>
            </a:r>
            <a:r>
              <a:rPr sz="2000" dirty="0">
                <a:solidFill>
                  <a:srgbClr val="000000"/>
                </a:solidFill>
              </a:rPr>
              <a:t> </a:t>
            </a:r>
            <a:r>
              <a:rPr sz="2000" dirty="0" err="1">
                <a:solidFill>
                  <a:srgbClr val="000000"/>
                </a:solidFill>
              </a:rPr>
              <a:t>confirmée</a:t>
            </a:r>
            <a:r>
              <a:rPr sz="2000" dirty="0">
                <a:solidFill>
                  <a:srgbClr val="000000"/>
                </a:solidFill>
              </a:rPr>
              <a:t> par validation </a:t>
            </a:r>
            <a:r>
              <a:rPr sz="2000" dirty="0" err="1">
                <a:solidFill>
                  <a:srgbClr val="000000"/>
                </a:solidFill>
              </a:rPr>
              <a:t>croisée</a:t>
            </a:r>
            <a:r>
              <a:rPr sz="2000" dirty="0">
                <a:solidFill>
                  <a:srgbClr val="000000"/>
                </a:solidFill>
              </a:rPr>
              <a:t> (5-fold) avant tuning </a:t>
            </a:r>
            <a:endParaRPr lang="fr-FR" sz="2000" dirty="0">
              <a:solidFill>
                <a:srgbClr val="000000"/>
              </a:solidFill>
            </a:endParaRPr>
          </a:p>
          <a:p>
            <a:r>
              <a:rPr lang="fr-FR" sz="2000" dirty="0">
                <a:solidFill>
                  <a:srgbClr val="000000"/>
                </a:solidFill>
              </a:rPr>
              <a:t>=&gt;</a:t>
            </a:r>
            <a:r>
              <a:rPr sz="2000" dirty="0">
                <a:solidFill>
                  <a:srgbClr val="000000"/>
                </a:solidFill>
              </a:rPr>
              <a:t> les </a:t>
            </a:r>
            <a:r>
              <a:rPr sz="2000" dirty="0" err="1">
                <a:solidFill>
                  <a:srgbClr val="000000"/>
                </a:solidFill>
              </a:rPr>
              <a:t>écarts</a:t>
            </a:r>
            <a:r>
              <a:rPr sz="2000" dirty="0">
                <a:solidFill>
                  <a:srgbClr val="000000"/>
                </a:solidFill>
              </a:rPr>
              <a:t> entre </a:t>
            </a:r>
            <a:r>
              <a:rPr sz="2000" dirty="0" err="1">
                <a:solidFill>
                  <a:srgbClr val="000000"/>
                </a:solidFill>
              </a:rPr>
              <a:t>modèles</a:t>
            </a:r>
            <a:r>
              <a:rPr sz="2000" dirty="0">
                <a:solidFill>
                  <a:srgbClr val="000000"/>
                </a:solidFill>
              </a:rPr>
              <a:t> ne </a:t>
            </a:r>
            <a:r>
              <a:rPr sz="2000" dirty="0" err="1">
                <a:solidFill>
                  <a:srgbClr val="000000"/>
                </a:solidFill>
              </a:rPr>
              <a:t>sont</a:t>
            </a:r>
            <a:r>
              <a:rPr sz="2000" dirty="0">
                <a:solidFill>
                  <a:srgbClr val="000000"/>
                </a:solidFill>
              </a:rPr>
              <a:t> pas un artefact d'un seul split</a:t>
            </a: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F74BE34B-C085-3CDC-C96C-E39FD6E18E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0079" y="3013086"/>
            <a:ext cx="5132642" cy="3320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02340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watermar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380117" y="6446520"/>
            <a:ext cx="628698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dirty="0">
                <a:solidFill>
                  <a:srgbClr val="999999"/>
                </a:solidFill>
              </a:rPr>
              <a:t>1</a:t>
            </a:r>
            <a:r>
              <a:rPr lang="fr-FR" sz="1200" dirty="0">
                <a:solidFill>
                  <a:srgbClr val="999999"/>
                </a:solidFill>
              </a:rPr>
              <a:t>8</a:t>
            </a:r>
            <a:r>
              <a:rPr sz="1200" dirty="0">
                <a:solidFill>
                  <a:srgbClr val="999999"/>
                </a:solidFill>
              </a:rPr>
              <a:t> / 2</a:t>
            </a:r>
            <a:r>
              <a:rPr lang="fr-FR" sz="1200" dirty="0">
                <a:solidFill>
                  <a:srgbClr val="999999"/>
                </a:solidFill>
              </a:rPr>
              <a:t>2</a:t>
            </a:r>
            <a:endParaRPr sz="1200" dirty="0">
              <a:solidFill>
                <a:srgbClr val="999999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99999"/>
                </a:solidFill>
              </a:rPr>
              <a:t>© Proxiel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3A5F"/>
                </a:solidFill>
              </a:rPr>
              <a:t>Infrastructure et MLOps — testés réellement</a:t>
            </a:r>
          </a:p>
        </p:txBody>
      </p:sp>
      <p:pic>
        <p:nvPicPr>
          <p:cNvPr id="6" name="Picture 5" descr="g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1920240"/>
            <a:ext cx="274320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280160"/>
            <a:ext cx="8229600" cy="27597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 dirty="0">
                <a:solidFill>
                  <a:srgbClr val="404040"/>
                </a:solidFill>
              </a:rPr>
              <a:t>• </a:t>
            </a:r>
            <a:r>
              <a:rPr sz="2000" b="0" dirty="0" err="1">
                <a:solidFill>
                  <a:srgbClr val="404040"/>
                </a:solidFill>
              </a:rPr>
              <a:t>MLflow</a:t>
            </a:r>
            <a:r>
              <a:rPr sz="2000" b="0" dirty="0">
                <a:solidFill>
                  <a:srgbClr val="404040"/>
                </a:solidFill>
              </a:rPr>
              <a:t> : 2 </a:t>
            </a:r>
            <a:r>
              <a:rPr sz="2000" b="0" dirty="0" err="1">
                <a:solidFill>
                  <a:srgbClr val="404040"/>
                </a:solidFill>
              </a:rPr>
              <a:t>expériences</a:t>
            </a:r>
            <a:r>
              <a:rPr sz="2000" b="0" dirty="0">
                <a:solidFill>
                  <a:srgbClr val="404040"/>
                </a:solidFill>
              </a:rPr>
              <a:t>, </a:t>
            </a:r>
            <a:r>
              <a:rPr sz="2000" b="0" dirty="0" err="1">
                <a:solidFill>
                  <a:srgbClr val="404040"/>
                </a:solidFill>
              </a:rPr>
              <a:t>modèles</a:t>
            </a:r>
            <a:r>
              <a:rPr sz="2000" b="0" dirty="0">
                <a:solidFill>
                  <a:srgbClr val="404040"/>
                </a:solidFill>
              </a:rPr>
              <a:t> </a:t>
            </a:r>
            <a:r>
              <a:rPr sz="2000" b="0" dirty="0" err="1">
                <a:solidFill>
                  <a:srgbClr val="404040"/>
                </a:solidFill>
              </a:rPr>
              <a:t>enregistrés</a:t>
            </a:r>
            <a:r>
              <a:rPr sz="2000" b="0" dirty="0">
                <a:solidFill>
                  <a:srgbClr val="404040"/>
                </a:solidFill>
              </a:rPr>
              <a:t> au Model Registry</a:t>
            </a:r>
          </a:p>
          <a:p>
            <a:pPr>
              <a:spcAft>
                <a:spcPts val="1000"/>
              </a:spcAft>
            </a:pPr>
            <a:r>
              <a:rPr sz="2000" b="0" dirty="0">
                <a:solidFill>
                  <a:srgbClr val="404040"/>
                </a:solidFill>
              </a:rPr>
              <a:t>• Prefect : orchestration </a:t>
            </a:r>
            <a:r>
              <a:rPr sz="2000" b="0" dirty="0" err="1">
                <a:solidFill>
                  <a:srgbClr val="404040"/>
                </a:solidFill>
              </a:rPr>
              <a:t>entraînement</a:t>
            </a:r>
            <a:r>
              <a:rPr sz="2000" b="0" dirty="0">
                <a:solidFill>
                  <a:srgbClr val="404040"/>
                </a:solidFill>
              </a:rPr>
              <a:t> + scoring batch + stockage PostgreSQL</a:t>
            </a:r>
          </a:p>
          <a:p>
            <a:pPr>
              <a:spcAft>
                <a:spcPts val="1000"/>
              </a:spcAft>
            </a:pPr>
            <a:r>
              <a:rPr sz="2000" b="0" dirty="0">
                <a:solidFill>
                  <a:srgbClr val="404040"/>
                </a:solidFill>
              </a:rPr>
              <a:t>• API </a:t>
            </a:r>
            <a:r>
              <a:rPr sz="2000" b="0" dirty="0" err="1">
                <a:solidFill>
                  <a:srgbClr val="404040"/>
                </a:solidFill>
              </a:rPr>
              <a:t>FastAPI</a:t>
            </a:r>
            <a:r>
              <a:rPr sz="2000" b="0" dirty="0">
                <a:solidFill>
                  <a:srgbClr val="404040"/>
                </a:solidFill>
              </a:rPr>
              <a:t> </a:t>
            </a:r>
            <a:r>
              <a:rPr sz="2000" b="0" dirty="0" err="1">
                <a:solidFill>
                  <a:srgbClr val="404040"/>
                </a:solidFill>
              </a:rPr>
              <a:t>conteneurisée</a:t>
            </a:r>
            <a:r>
              <a:rPr sz="2000" b="0" dirty="0">
                <a:solidFill>
                  <a:srgbClr val="404040"/>
                </a:solidFill>
              </a:rPr>
              <a:t> (Docker) : </a:t>
            </a:r>
            <a:r>
              <a:rPr sz="2000" b="0" dirty="0" err="1">
                <a:solidFill>
                  <a:srgbClr val="404040"/>
                </a:solidFill>
              </a:rPr>
              <a:t>sert</a:t>
            </a:r>
            <a:r>
              <a:rPr sz="2000" b="0" dirty="0">
                <a:solidFill>
                  <a:srgbClr val="404040"/>
                </a:solidFill>
              </a:rPr>
              <a:t> les 2 </a:t>
            </a:r>
            <a:r>
              <a:rPr sz="2000" b="0" dirty="0" err="1">
                <a:solidFill>
                  <a:srgbClr val="404040"/>
                </a:solidFill>
              </a:rPr>
              <a:t>modèles</a:t>
            </a:r>
            <a:r>
              <a:rPr sz="2000" b="0" dirty="0">
                <a:solidFill>
                  <a:srgbClr val="404040"/>
                </a:solidFill>
              </a:rPr>
              <a:t> via `/predict-tabular`</a:t>
            </a:r>
          </a:p>
          <a:p>
            <a:pPr>
              <a:spcAft>
                <a:spcPts val="1000"/>
              </a:spcAft>
            </a:pPr>
            <a:r>
              <a:rPr sz="2000" b="0" dirty="0">
                <a:solidFill>
                  <a:srgbClr val="404040"/>
                </a:solidFill>
              </a:rPr>
              <a:t>• Monitoring Prometheus/Grafana : 7 </a:t>
            </a:r>
            <a:r>
              <a:rPr sz="2000" b="0" dirty="0" err="1">
                <a:solidFill>
                  <a:srgbClr val="404040"/>
                </a:solidFill>
              </a:rPr>
              <a:t>alertes</a:t>
            </a:r>
            <a:r>
              <a:rPr sz="2000" b="0" dirty="0">
                <a:solidFill>
                  <a:srgbClr val="404040"/>
                </a:solidFill>
              </a:rPr>
              <a:t> </a:t>
            </a:r>
            <a:r>
              <a:rPr sz="2000" b="0" dirty="0" err="1">
                <a:solidFill>
                  <a:srgbClr val="404040"/>
                </a:solidFill>
              </a:rPr>
              <a:t>provisionnées</a:t>
            </a:r>
            <a:r>
              <a:rPr sz="2000" b="0" dirty="0">
                <a:solidFill>
                  <a:srgbClr val="404040"/>
                </a:solidFill>
              </a:rPr>
              <a:t> (exploitation + </a:t>
            </a:r>
            <a:r>
              <a:rPr sz="2000" b="0" dirty="0" err="1">
                <a:solidFill>
                  <a:srgbClr val="404040"/>
                </a:solidFill>
              </a:rPr>
              <a:t>dérive</a:t>
            </a:r>
            <a:r>
              <a:rPr sz="2000" b="0" dirty="0">
                <a:solidFill>
                  <a:srgbClr val="404040"/>
                </a:solidFill>
              </a:rPr>
              <a:t>)</a:t>
            </a:r>
          </a:p>
          <a:p>
            <a:pPr>
              <a:spcAft>
                <a:spcPts val="1000"/>
              </a:spcAft>
            </a:pPr>
            <a:r>
              <a:rPr sz="2000" b="0" dirty="0">
                <a:solidFill>
                  <a:srgbClr val="404040"/>
                </a:solidFill>
              </a:rPr>
              <a:t>• 45 tests </a:t>
            </a:r>
            <a:r>
              <a:rPr sz="2000" b="0" dirty="0" err="1">
                <a:solidFill>
                  <a:srgbClr val="404040"/>
                </a:solidFill>
              </a:rPr>
              <a:t>automatisés</a:t>
            </a:r>
            <a:r>
              <a:rPr sz="2000" b="0" dirty="0">
                <a:solidFill>
                  <a:srgbClr val="404040"/>
                </a:solidFill>
              </a:rPr>
              <a:t> (</a:t>
            </a:r>
            <a:r>
              <a:rPr sz="2000" b="0" dirty="0" err="1">
                <a:solidFill>
                  <a:srgbClr val="404040"/>
                </a:solidFill>
              </a:rPr>
              <a:t>pytest</a:t>
            </a:r>
            <a:r>
              <a:rPr sz="2000" b="0" dirty="0">
                <a:solidFill>
                  <a:srgbClr val="404040"/>
                </a:solidFill>
              </a:rPr>
              <a:t>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watermar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380117" y="6446520"/>
            <a:ext cx="628698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dirty="0">
                <a:solidFill>
                  <a:srgbClr val="999999"/>
                </a:solidFill>
              </a:rPr>
              <a:t>1</a:t>
            </a:r>
            <a:r>
              <a:rPr lang="fr-FR" sz="1200" dirty="0">
                <a:solidFill>
                  <a:srgbClr val="999999"/>
                </a:solidFill>
              </a:rPr>
              <a:t>9</a:t>
            </a:r>
            <a:r>
              <a:rPr sz="1200" dirty="0">
                <a:solidFill>
                  <a:srgbClr val="999999"/>
                </a:solidFill>
              </a:rPr>
              <a:t> / 2</a:t>
            </a:r>
            <a:r>
              <a:rPr lang="fr-FR" sz="1200" dirty="0">
                <a:solidFill>
                  <a:srgbClr val="999999"/>
                </a:solidFill>
              </a:rPr>
              <a:t>2</a:t>
            </a:r>
            <a:endParaRPr sz="1200" dirty="0">
              <a:solidFill>
                <a:srgbClr val="999999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99999"/>
                </a:solidFill>
              </a:rPr>
              <a:t>© Proxiel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3A5F"/>
                </a:solidFill>
              </a:rPr>
              <a:t>Mesure de performance et impact métier</a:t>
            </a:r>
          </a:p>
        </p:txBody>
      </p:sp>
      <p:pic>
        <p:nvPicPr>
          <p:cNvPr id="6" name="Picture 5" descr="eu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1920240"/>
            <a:ext cx="274320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280160"/>
            <a:ext cx="8229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404040"/>
                </a:solidFill>
              </a:rPr>
              <a:t>• Sur le test (1 040 étudiants, 296 réellement en situation d'abandon, seuil 0,5) :</a:t>
            </a:r>
          </a:p>
          <a:p>
            <a:pPr lvl="1">
              <a:spcAft>
                <a:spcPts val="1000"/>
              </a:spcAft>
            </a:pPr>
            <a:r>
              <a:rPr sz="1800" b="0">
                <a:solidFill>
                  <a:srgbClr val="404040"/>
                </a:solidFill>
              </a:rPr>
              <a:t>– 266 étudiants à risque correctement détectés</a:t>
            </a:r>
          </a:p>
          <a:p>
            <a:pPr lvl="1">
              <a:spcAft>
                <a:spcPts val="1000"/>
              </a:spcAft>
            </a:pPr>
            <a:r>
              <a:rPr sz="1800" b="0">
                <a:solidFill>
                  <a:srgbClr val="404040"/>
                </a:solidFill>
              </a:rPr>
              <a:t>– 30 non détectés (faux négatifs) — coût estimé 75 000 € sur l'échantillon</a:t>
            </a:r>
          </a:p>
          <a:p>
            <a:pPr lvl="1">
              <a:spcAft>
                <a:spcPts val="1000"/>
              </a:spcAft>
            </a:pPr>
            <a:r>
              <a:rPr sz="1800" b="0">
                <a:solidFill>
                  <a:srgbClr val="404040"/>
                </a:solidFill>
              </a:rPr>
              <a:t>– 99 signalés à tort (faux positifs) — ressources de tutorat mobilisées inutilement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404040"/>
                </a:solidFill>
              </a:rPr>
              <a:t>• Extrapolé à la promotion complète (~5 200 étudiants) : ~375 000 €/an de coût des FN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404040"/>
                </a:solidFill>
              </a:rPr>
              <a:t>• Hypothèse métier fournie : coût d'un faux négatif ≈ 2 500 €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watermar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380117" y="6446520"/>
            <a:ext cx="628698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fr-FR" sz="1200" dirty="0">
                <a:solidFill>
                  <a:srgbClr val="999999"/>
                </a:solidFill>
              </a:rPr>
              <a:t>20</a:t>
            </a:r>
            <a:r>
              <a:rPr sz="1200" dirty="0">
                <a:solidFill>
                  <a:srgbClr val="999999"/>
                </a:solidFill>
              </a:rPr>
              <a:t> / 2</a:t>
            </a:r>
            <a:r>
              <a:rPr lang="fr-FR" sz="1200" dirty="0">
                <a:solidFill>
                  <a:srgbClr val="999999"/>
                </a:solidFill>
              </a:rPr>
              <a:t>2</a:t>
            </a:r>
            <a:endParaRPr sz="1200" dirty="0">
              <a:solidFill>
                <a:srgbClr val="999999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99999"/>
                </a:solidFill>
              </a:rPr>
              <a:t>© Proxiel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3A5F"/>
                </a:solidFill>
              </a:rPr>
              <a:t>Arbitrage du seuil — coûts et ROI</a:t>
            </a:r>
          </a:p>
        </p:txBody>
      </p:sp>
      <p:pic>
        <p:nvPicPr>
          <p:cNvPr id="6" name="Picture 5" descr="eu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0" y="4253330"/>
            <a:ext cx="1277417" cy="1277417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1463040"/>
          <a:ext cx="105156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600" b="1"/>
                        <a:t>Seuil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/>
                        <a:t>Rappel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/>
                        <a:t>FN/an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/>
                        <a:t>Coût FN/an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/>
                        <a:t>Coût accompagnement/an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/>
                        <a:t>ROI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600" b="0"/>
                        <a:t>0,50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/>
                        <a:t>0,899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/>
                        <a:t>~150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/>
                        <a:t>375 000 €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/>
                        <a:t>~639 000 €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/>
                        <a:t>4,2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600" b="0"/>
                        <a:t>0,33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/>
                        <a:t>0,966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/>
                        <a:t>~50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/>
                        <a:t>125 000 €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/>
                        <a:t>~795 000 €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/>
                        <a:t>3,5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911657" y="3840480"/>
            <a:ext cx="108813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 dirty="0">
                <a:solidFill>
                  <a:srgbClr val="404040"/>
                </a:solidFill>
              </a:rPr>
              <a:t>• Passer de 0,5 à 0,33 : +100 FN </a:t>
            </a:r>
            <a:r>
              <a:rPr sz="1800" b="0" dirty="0" err="1">
                <a:solidFill>
                  <a:srgbClr val="404040"/>
                </a:solidFill>
              </a:rPr>
              <a:t>évités</a:t>
            </a:r>
            <a:r>
              <a:rPr sz="1800" b="0" dirty="0">
                <a:solidFill>
                  <a:srgbClr val="404040"/>
                </a:solidFill>
              </a:rPr>
              <a:t>/an (~250 000 €), au prix de +345 </a:t>
            </a:r>
            <a:r>
              <a:rPr sz="1800" b="0" dirty="0" err="1">
                <a:solidFill>
                  <a:srgbClr val="404040"/>
                </a:solidFill>
              </a:rPr>
              <a:t>accompagnements</a:t>
            </a:r>
            <a:r>
              <a:rPr sz="1800" b="0" dirty="0">
                <a:solidFill>
                  <a:srgbClr val="404040"/>
                </a:solidFill>
              </a:rPr>
              <a:t>/an</a:t>
            </a:r>
          </a:p>
          <a:p>
            <a:pPr>
              <a:spcAft>
                <a:spcPts val="1000"/>
              </a:spcAft>
            </a:pPr>
            <a:r>
              <a:rPr sz="1800" b="0" dirty="0">
                <a:solidFill>
                  <a:srgbClr val="404040"/>
                </a:solidFill>
              </a:rPr>
              <a:t>• Gain net marginal : ~+95 000 €/an </a:t>
            </a:r>
            <a:r>
              <a:rPr sz="1800" b="0" dirty="0" err="1">
                <a:solidFill>
                  <a:srgbClr val="404040"/>
                </a:solidFill>
              </a:rPr>
              <a:t>en</a:t>
            </a:r>
            <a:r>
              <a:rPr sz="1800" b="0" dirty="0">
                <a:solidFill>
                  <a:srgbClr val="404040"/>
                </a:solidFill>
              </a:rPr>
              <a:t> </a:t>
            </a:r>
            <a:r>
              <a:rPr sz="1800" b="0" dirty="0" err="1">
                <a:solidFill>
                  <a:srgbClr val="404040"/>
                </a:solidFill>
              </a:rPr>
              <a:t>faveur</a:t>
            </a:r>
            <a:r>
              <a:rPr sz="1800" b="0" dirty="0">
                <a:solidFill>
                  <a:srgbClr val="404040"/>
                </a:solidFill>
              </a:rPr>
              <a:t> de 0,33, </a:t>
            </a:r>
            <a:r>
              <a:rPr sz="1800" b="0" dirty="0" err="1">
                <a:solidFill>
                  <a:srgbClr val="404040"/>
                </a:solidFill>
              </a:rPr>
              <a:t>mais</a:t>
            </a:r>
            <a:r>
              <a:rPr sz="1800" b="0" dirty="0">
                <a:solidFill>
                  <a:srgbClr val="404040"/>
                </a:solidFill>
              </a:rPr>
              <a:t> ROI (ratio) plus </a:t>
            </a:r>
            <a:r>
              <a:rPr sz="1800" b="0" dirty="0" err="1">
                <a:solidFill>
                  <a:srgbClr val="404040"/>
                </a:solidFill>
              </a:rPr>
              <a:t>faible</a:t>
            </a:r>
            <a:endParaRPr sz="1800" b="0" dirty="0">
              <a:solidFill>
                <a:srgbClr val="404040"/>
              </a:solidFill>
            </a:endParaRPr>
          </a:p>
          <a:p>
            <a:pPr>
              <a:spcAft>
                <a:spcPts val="1000"/>
              </a:spcAft>
            </a:pPr>
            <a:r>
              <a:rPr sz="1800" b="0" dirty="0">
                <a:solidFill>
                  <a:srgbClr val="404040"/>
                </a:solidFill>
              </a:rPr>
              <a:t>• </a:t>
            </a:r>
            <a:r>
              <a:rPr sz="1800" b="0" dirty="0" err="1">
                <a:solidFill>
                  <a:srgbClr val="404040"/>
                </a:solidFill>
              </a:rPr>
              <a:t>Coût</a:t>
            </a:r>
            <a:r>
              <a:rPr sz="1800" b="0" dirty="0">
                <a:solidFill>
                  <a:srgbClr val="404040"/>
                </a:solidFill>
              </a:rPr>
              <a:t> </a:t>
            </a:r>
            <a:r>
              <a:rPr sz="1800" b="0" dirty="0" err="1">
                <a:solidFill>
                  <a:srgbClr val="404040"/>
                </a:solidFill>
              </a:rPr>
              <a:t>d'accompagnement</a:t>
            </a:r>
            <a:r>
              <a:rPr sz="1800" b="0" dirty="0">
                <a:solidFill>
                  <a:srgbClr val="404040"/>
                </a:solidFill>
              </a:rPr>
              <a:t> (200-500 €/</a:t>
            </a:r>
            <a:r>
              <a:rPr sz="1800" b="0" dirty="0" err="1">
                <a:solidFill>
                  <a:srgbClr val="404040"/>
                </a:solidFill>
              </a:rPr>
              <a:t>étudiant</a:t>
            </a:r>
            <a:r>
              <a:rPr sz="1800" b="0" dirty="0">
                <a:solidFill>
                  <a:srgbClr val="404040"/>
                </a:solidFill>
              </a:rPr>
              <a:t>) : approximation, pas </a:t>
            </a:r>
            <a:r>
              <a:rPr sz="1800" b="0" dirty="0" err="1">
                <a:solidFill>
                  <a:srgbClr val="404040"/>
                </a:solidFill>
              </a:rPr>
              <a:t>une</a:t>
            </a:r>
            <a:r>
              <a:rPr sz="1800" b="0" dirty="0">
                <a:solidFill>
                  <a:srgbClr val="404040"/>
                </a:solidFill>
              </a:rPr>
              <a:t> </a:t>
            </a:r>
            <a:r>
              <a:rPr sz="1800" b="0" dirty="0" err="1">
                <a:solidFill>
                  <a:srgbClr val="404040"/>
                </a:solidFill>
              </a:rPr>
              <a:t>mesure</a:t>
            </a:r>
            <a:r>
              <a:rPr sz="1800" b="0" dirty="0">
                <a:solidFill>
                  <a:srgbClr val="404040"/>
                </a:solidFill>
              </a:rPr>
              <a:t> propre au </a:t>
            </a:r>
            <a:r>
              <a:rPr sz="1800" b="0" dirty="0" err="1">
                <a:solidFill>
                  <a:srgbClr val="404040"/>
                </a:solidFill>
              </a:rPr>
              <a:t>projet</a:t>
            </a:r>
            <a:endParaRPr sz="1800" b="0" dirty="0">
              <a:solidFill>
                <a:srgbClr val="404040"/>
              </a:solidFill>
            </a:endParaRPr>
          </a:p>
          <a:p>
            <a:pPr>
              <a:spcAft>
                <a:spcPts val="1000"/>
              </a:spcAft>
            </a:pPr>
            <a:r>
              <a:rPr sz="1800" b="0" dirty="0">
                <a:solidFill>
                  <a:srgbClr val="404040"/>
                </a:solidFill>
              </a:rPr>
              <a:t>• Arbitrage à </a:t>
            </a:r>
            <a:r>
              <a:rPr sz="1800" b="0" dirty="0" err="1">
                <a:solidFill>
                  <a:srgbClr val="404040"/>
                </a:solidFill>
              </a:rPr>
              <a:t>valider</a:t>
            </a:r>
            <a:r>
              <a:rPr sz="1800" b="0" dirty="0">
                <a:solidFill>
                  <a:srgbClr val="404040"/>
                </a:solidFill>
              </a:rPr>
              <a:t> avec la Direction — pas un choix technique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watermar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380117" y="6446520"/>
            <a:ext cx="628698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dirty="0">
                <a:solidFill>
                  <a:srgbClr val="999999"/>
                </a:solidFill>
              </a:rPr>
              <a:t>2</a:t>
            </a:r>
            <a:r>
              <a:rPr lang="fr-FR" sz="1200" dirty="0">
                <a:solidFill>
                  <a:srgbClr val="999999"/>
                </a:solidFill>
              </a:rPr>
              <a:t>1</a:t>
            </a:r>
            <a:r>
              <a:rPr sz="1200" dirty="0">
                <a:solidFill>
                  <a:srgbClr val="999999"/>
                </a:solidFill>
              </a:rPr>
              <a:t> / 2</a:t>
            </a:r>
            <a:r>
              <a:rPr lang="fr-FR" sz="1200" dirty="0">
                <a:solidFill>
                  <a:srgbClr val="999999"/>
                </a:solidFill>
              </a:rPr>
              <a:t>2</a:t>
            </a:r>
            <a:endParaRPr sz="1200" dirty="0">
              <a:solidFill>
                <a:srgbClr val="999999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99999"/>
                </a:solidFill>
              </a:rPr>
              <a:t>© Proxiel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3A5F"/>
                </a:solidFill>
              </a:rPr>
              <a:t>Conclusion</a:t>
            </a:r>
          </a:p>
        </p:txBody>
      </p:sp>
      <p:pic>
        <p:nvPicPr>
          <p:cNvPr id="6" name="Picture 5" descr="fla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1920240"/>
            <a:ext cx="274320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280160"/>
            <a:ext cx="8229600" cy="3683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 dirty="0">
                <a:solidFill>
                  <a:srgbClr val="404040"/>
                </a:solidFill>
              </a:rPr>
              <a:t>• Deux </a:t>
            </a:r>
            <a:r>
              <a:rPr sz="2000" b="0" dirty="0" err="1">
                <a:solidFill>
                  <a:srgbClr val="404040"/>
                </a:solidFill>
              </a:rPr>
              <a:t>modèles</a:t>
            </a:r>
            <a:r>
              <a:rPr sz="2000" b="0" dirty="0">
                <a:solidFill>
                  <a:srgbClr val="404040"/>
                </a:solidFill>
              </a:rPr>
              <a:t> </a:t>
            </a:r>
            <a:r>
              <a:rPr sz="2000" b="0" dirty="0" err="1">
                <a:solidFill>
                  <a:srgbClr val="404040"/>
                </a:solidFill>
              </a:rPr>
              <a:t>indépendants</a:t>
            </a:r>
            <a:r>
              <a:rPr sz="2000" b="0" dirty="0">
                <a:solidFill>
                  <a:srgbClr val="404040"/>
                </a:solidFill>
              </a:rPr>
              <a:t>, </a:t>
            </a:r>
            <a:r>
              <a:rPr sz="2000" b="0" dirty="0" err="1">
                <a:solidFill>
                  <a:srgbClr val="404040"/>
                </a:solidFill>
              </a:rPr>
              <a:t>validés</a:t>
            </a:r>
            <a:r>
              <a:rPr sz="2000" b="0" dirty="0">
                <a:solidFill>
                  <a:srgbClr val="404040"/>
                </a:solidFill>
              </a:rPr>
              <a:t> de bout </a:t>
            </a:r>
            <a:r>
              <a:rPr sz="2000" b="0" dirty="0" err="1">
                <a:solidFill>
                  <a:srgbClr val="404040"/>
                </a:solidFill>
              </a:rPr>
              <a:t>en</a:t>
            </a:r>
            <a:r>
              <a:rPr sz="2000" b="0" dirty="0">
                <a:solidFill>
                  <a:srgbClr val="404040"/>
                </a:solidFill>
              </a:rPr>
              <a:t> bout (</a:t>
            </a:r>
            <a:r>
              <a:rPr sz="2000" b="0" dirty="0" err="1">
                <a:solidFill>
                  <a:srgbClr val="404040"/>
                </a:solidFill>
              </a:rPr>
              <a:t>comparaison</a:t>
            </a:r>
            <a:r>
              <a:rPr sz="2000" b="0" dirty="0">
                <a:solidFill>
                  <a:srgbClr val="404040"/>
                </a:solidFill>
              </a:rPr>
              <a:t>, CV, tuning, SHAP)</a:t>
            </a:r>
          </a:p>
          <a:p>
            <a:pPr>
              <a:spcAft>
                <a:spcPts val="1000"/>
              </a:spcAft>
            </a:pPr>
            <a:r>
              <a:rPr sz="2000" b="0" dirty="0">
                <a:solidFill>
                  <a:srgbClr val="404040"/>
                </a:solidFill>
              </a:rPr>
              <a:t>• Classification `abandon` : </a:t>
            </a:r>
            <a:r>
              <a:rPr sz="2000" b="0" dirty="0" err="1">
                <a:solidFill>
                  <a:srgbClr val="404040"/>
                </a:solidFill>
              </a:rPr>
              <a:t>régression</a:t>
            </a:r>
            <a:r>
              <a:rPr sz="2000" b="0" dirty="0">
                <a:solidFill>
                  <a:srgbClr val="404040"/>
                </a:solidFill>
              </a:rPr>
              <a:t> </a:t>
            </a:r>
            <a:r>
              <a:rPr sz="2000" b="0" dirty="0" err="1">
                <a:solidFill>
                  <a:srgbClr val="404040"/>
                </a:solidFill>
              </a:rPr>
              <a:t>logistique</a:t>
            </a:r>
            <a:r>
              <a:rPr sz="2000" b="0" dirty="0">
                <a:solidFill>
                  <a:srgbClr val="404040"/>
                </a:solidFill>
              </a:rPr>
              <a:t> — AUC 0,946, rappel 0,899, </a:t>
            </a:r>
            <a:r>
              <a:rPr sz="2000" b="0" dirty="0" err="1">
                <a:solidFill>
                  <a:srgbClr val="404040"/>
                </a:solidFill>
              </a:rPr>
              <a:t>précision</a:t>
            </a:r>
            <a:r>
              <a:rPr sz="2000" b="0" dirty="0">
                <a:solidFill>
                  <a:srgbClr val="404040"/>
                </a:solidFill>
              </a:rPr>
              <a:t> 0,729</a:t>
            </a:r>
          </a:p>
          <a:p>
            <a:pPr>
              <a:spcAft>
                <a:spcPts val="1000"/>
              </a:spcAft>
            </a:pPr>
            <a:r>
              <a:rPr sz="2000" b="0" dirty="0">
                <a:solidFill>
                  <a:srgbClr val="404040"/>
                </a:solidFill>
              </a:rPr>
              <a:t>• </a:t>
            </a:r>
            <a:r>
              <a:rPr sz="2000" b="0" dirty="0" err="1">
                <a:solidFill>
                  <a:srgbClr val="404040"/>
                </a:solidFill>
              </a:rPr>
              <a:t>Régression</a:t>
            </a:r>
            <a:r>
              <a:rPr sz="2000" b="0" dirty="0">
                <a:solidFill>
                  <a:srgbClr val="404040"/>
                </a:solidFill>
              </a:rPr>
              <a:t> `</a:t>
            </a:r>
            <a:r>
              <a:rPr sz="2000" b="0" dirty="0" err="1">
                <a:solidFill>
                  <a:srgbClr val="404040"/>
                </a:solidFill>
              </a:rPr>
              <a:t>moyenne_finale</a:t>
            </a:r>
            <a:r>
              <a:rPr sz="2000" b="0" dirty="0">
                <a:solidFill>
                  <a:srgbClr val="404040"/>
                </a:solidFill>
              </a:rPr>
              <a:t>` : Gradient Boosting — R² 0,692, MAE 2,25 points/20</a:t>
            </a:r>
          </a:p>
          <a:p>
            <a:pPr>
              <a:spcAft>
                <a:spcPts val="1000"/>
              </a:spcAft>
            </a:pPr>
            <a:r>
              <a:rPr sz="2000" b="0" dirty="0">
                <a:solidFill>
                  <a:srgbClr val="404040"/>
                </a:solidFill>
              </a:rPr>
              <a:t>• Infrastructure </a:t>
            </a:r>
            <a:r>
              <a:rPr sz="2000" b="0" dirty="0" err="1">
                <a:solidFill>
                  <a:srgbClr val="404040"/>
                </a:solidFill>
              </a:rPr>
              <a:t>complète</a:t>
            </a:r>
            <a:r>
              <a:rPr sz="2000" b="0" dirty="0">
                <a:solidFill>
                  <a:srgbClr val="404040"/>
                </a:solidFill>
              </a:rPr>
              <a:t> et </a:t>
            </a:r>
            <a:r>
              <a:rPr sz="2000" b="0" dirty="0" err="1">
                <a:solidFill>
                  <a:srgbClr val="404040"/>
                </a:solidFill>
              </a:rPr>
              <a:t>testée</a:t>
            </a:r>
            <a:r>
              <a:rPr sz="2000" b="0" dirty="0">
                <a:solidFill>
                  <a:srgbClr val="404040"/>
                </a:solidFill>
              </a:rPr>
              <a:t> </a:t>
            </a:r>
            <a:r>
              <a:rPr sz="2000" b="0" dirty="0" err="1">
                <a:solidFill>
                  <a:srgbClr val="404040"/>
                </a:solidFill>
              </a:rPr>
              <a:t>réellement</a:t>
            </a:r>
            <a:r>
              <a:rPr sz="2000" b="0" dirty="0">
                <a:solidFill>
                  <a:srgbClr val="404040"/>
                </a:solidFill>
              </a:rPr>
              <a:t> (API, Prefect, </a:t>
            </a:r>
            <a:r>
              <a:rPr sz="2000" b="0" dirty="0" err="1">
                <a:solidFill>
                  <a:srgbClr val="404040"/>
                </a:solidFill>
              </a:rPr>
              <a:t>MLflow</a:t>
            </a:r>
            <a:r>
              <a:rPr sz="2000" b="0" dirty="0">
                <a:solidFill>
                  <a:srgbClr val="404040"/>
                </a:solidFill>
              </a:rPr>
              <a:t>, monitoring, 45 tests)</a:t>
            </a:r>
          </a:p>
          <a:p>
            <a:pPr>
              <a:spcAft>
                <a:spcPts val="1000"/>
              </a:spcAft>
            </a:pPr>
            <a:r>
              <a:rPr sz="2000" b="0" dirty="0">
                <a:solidFill>
                  <a:srgbClr val="404040"/>
                </a:solidFill>
              </a:rPr>
              <a:t>• Ce qui manque </a:t>
            </a:r>
            <a:r>
              <a:rPr sz="2000" b="0" dirty="0" err="1">
                <a:solidFill>
                  <a:srgbClr val="404040"/>
                </a:solidFill>
              </a:rPr>
              <a:t>n'est</a:t>
            </a:r>
            <a:r>
              <a:rPr sz="2000" b="0" dirty="0">
                <a:solidFill>
                  <a:srgbClr val="404040"/>
                </a:solidFill>
              </a:rPr>
              <a:t> pas technique : </a:t>
            </a:r>
            <a:r>
              <a:rPr sz="2000" b="0" dirty="0" err="1">
                <a:solidFill>
                  <a:srgbClr val="404040"/>
                </a:solidFill>
              </a:rPr>
              <a:t>c'est</a:t>
            </a:r>
            <a:r>
              <a:rPr sz="2000" b="0" dirty="0">
                <a:solidFill>
                  <a:srgbClr val="404040"/>
                </a:solidFill>
              </a:rPr>
              <a:t> la </a:t>
            </a:r>
            <a:r>
              <a:rPr sz="2000" b="0" dirty="0" err="1">
                <a:solidFill>
                  <a:srgbClr val="404040"/>
                </a:solidFill>
              </a:rPr>
              <a:t>gouvernance</a:t>
            </a:r>
            <a:r>
              <a:rPr sz="2000" b="0" dirty="0">
                <a:solidFill>
                  <a:srgbClr val="404040"/>
                </a:solidFill>
              </a:rPr>
              <a:t> humaine (qui </a:t>
            </a:r>
            <a:r>
              <a:rPr sz="2000" b="0" dirty="0" err="1">
                <a:solidFill>
                  <a:srgbClr val="404040"/>
                </a:solidFill>
              </a:rPr>
              <a:t>valide</a:t>
            </a:r>
            <a:r>
              <a:rPr sz="2000" b="0" dirty="0">
                <a:solidFill>
                  <a:srgbClr val="404040"/>
                </a:solidFill>
              </a:rPr>
              <a:t>, qui </a:t>
            </a:r>
            <a:r>
              <a:rPr sz="2000" b="0" dirty="0" err="1">
                <a:solidFill>
                  <a:srgbClr val="404040"/>
                </a:solidFill>
              </a:rPr>
              <a:t>arbitre</a:t>
            </a:r>
            <a:r>
              <a:rPr sz="2000" b="0" dirty="0">
                <a:solidFill>
                  <a:srgbClr val="404040"/>
                </a:solidFill>
              </a:rPr>
              <a:t>, qui </a:t>
            </a:r>
            <a:r>
              <a:rPr sz="2000" b="0" dirty="0" err="1">
                <a:solidFill>
                  <a:srgbClr val="404040"/>
                </a:solidFill>
              </a:rPr>
              <a:t>audite</a:t>
            </a:r>
            <a:r>
              <a:rPr sz="2000" b="0" dirty="0">
                <a:solidFill>
                  <a:srgbClr val="404040"/>
                </a:solidFill>
              </a:rPr>
              <a:t>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watermar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380117" y="6446520"/>
            <a:ext cx="628698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dirty="0">
                <a:solidFill>
                  <a:srgbClr val="999999"/>
                </a:solidFill>
              </a:rPr>
              <a:t>2</a:t>
            </a:r>
            <a:r>
              <a:rPr lang="fr-FR" sz="1200" dirty="0">
                <a:solidFill>
                  <a:srgbClr val="999999"/>
                </a:solidFill>
              </a:rPr>
              <a:t>2</a:t>
            </a:r>
            <a:r>
              <a:rPr sz="1200" dirty="0">
                <a:solidFill>
                  <a:srgbClr val="999999"/>
                </a:solidFill>
              </a:rPr>
              <a:t> / 2</a:t>
            </a:r>
            <a:r>
              <a:rPr lang="fr-FR" sz="1200" dirty="0">
                <a:solidFill>
                  <a:srgbClr val="999999"/>
                </a:solidFill>
              </a:rPr>
              <a:t>2</a:t>
            </a:r>
            <a:endParaRPr sz="1200" dirty="0">
              <a:solidFill>
                <a:srgbClr val="999999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99999"/>
                </a:solidFill>
              </a:rPr>
              <a:t>© Proxiel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3A5F"/>
                </a:solidFill>
              </a:rPr>
              <a:t>Recommandations</a:t>
            </a:r>
          </a:p>
        </p:txBody>
      </p:sp>
      <p:pic>
        <p:nvPicPr>
          <p:cNvPr id="6" name="Picture 5" descr="list_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1920240"/>
            <a:ext cx="274320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709928"/>
            <a:ext cx="8229600" cy="32060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 dirty="0">
                <a:solidFill>
                  <a:srgbClr val="404040"/>
                </a:solidFill>
              </a:rPr>
              <a:t>• 1. Faire </a:t>
            </a:r>
            <a:r>
              <a:rPr sz="1800" b="0" dirty="0" err="1">
                <a:solidFill>
                  <a:srgbClr val="404040"/>
                </a:solidFill>
              </a:rPr>
              <a:t>trancher</a:t>
            </a:r>
            <a:r>
              <a:rPr sz="1800" b="0" dirty="0">
                <a:solidFill>
                  <a:srgbClr val="404040"/>
                </a:solidFill>
              </a:rPr>
              <a:t> le </a:t>
            </a:r>
            <a:r>
              <a:rPr sz="1800" b="0" dirty="0" err="1">
                <a:solidFill>
                  <a:srgbClr val="404040"/>
                </a:solidFill>
              </a:rPr>
              <a:t>seuil</a:t>
            </a:r>
            <a:r>
              <a:rPr sz="1800" b="0" dirty="0">
                <a:solidFill>
                  <a:srgbClr val="404040"/>
                </a:solidFill>
              </a:rPr>
              <a:t> de </a:t>
            </a:r>
            <a:r>
              <a:rPr sz="1800" b="0" dirty="0" err="1">
                <a:solidFill>
                  <a:srgbClr val="404040"/>
                </a:solidFill>
              </a:rPr>
              <a:t>décision</a:t>
            </a:r>
            <a:r>
              <a:rPr sz="1800" b="0" dirty="0">
                <a:solidFill>
                  <a:srgbClr val="404040"/>
                </a:solidFill>
              </a:rPr>
              <a:t> par la Direction </a:t>
            </a:r>
            <a:endParaRPr lang="fr-FR" sz="1800" b="0" dirty="0">
              <a:solidFill>
                <a:srgbClr val="404040"/>
              </a:solidFill>
            </a:endParaRPr>
          </a:p>
          <a:p>
            <a:pPr>
              <a:spcAft>
                <a:spcPts val="1000"/>
              </a:spcAft>
            </a:pPr>
            <a:r>
              <a:rPr sz="1800" b="0" dirty="0">
                <a:solidFill>
                  <a:srgbClr val="404040"/>
                </a:solidFill>
              </a:rPr>
              <a:t>• 2. </a:t>
            </a:r>
            <a:r>
              <a:rPr sz="1800" b="0" dirty="0" err="1">
                <a:solidFill>
                  <a:srgbClr val="404040"/>
                </a:solidFill>
              </a:rPr>
              <a:t>Mettre</a:t>
            </a:r>
            <a:r>
              <a:rPr sz="1800" b="0" dirty="0">
                <a:solidFill>
                  <a:srgbClr val="404040"/>
                </a:solidFill>
              </a:rPr>
              <a:t> </a:t>
            </a:r>
            <a:r>
              <a:rPr sz="1800" b="0" dirty="0" err="1">
                <a:solidFill>
                  <a:srgbClr val="404040"/>
                </a:solidFill>
              </a:rPr>
              <a:t>en</a:t>
            </a:r>
            <a:r>
              <a:rPr sz="1800" b="0" dirty="0">
                <a:solidFill>
                  <a:srgbClr val="404040"/>
                </a:solidFill>
              </a:rPr>
              <a:t> place un </a:t>
            </a:r>
            <a:r>
              <a:rPr lang="fr-FR" sz="1800" b="0" dirty="0">
                <a:solidFill>
                  <a:srgbClr val="404040"/>
                </a:solidFill>
              </a:rPr>
              <a:t>filtre</a:t>
            </a:r>
            <a:r>
              <a:rPr sz="1800" b="0" dirty="0">
                <a:solidFill>
                  <a:srgbClr val="404040"/>
                </a:solidFill>
              </a:rPr>
              <a:t> </a:t>
            </a:r>
            <a:r>
              <a:rPr sz="1800" b="0" dirty="0" err="1">
                <a:solidFill>
                  <a:srgbClr val="404040"/>
                </a:solidFill>
              </a:rPr>
              <a:t>humain</a:t>
            </a:r>
            <a:r>
              <a:rPr sz="1800" b="0" dirty="0">
                <a:solidFill>
                  <a:srgbClr val="404040"/>
                </a:solidFill>
              </a:rPr>
              <a:t> avant toute promotion de </a:t>
            </a:r>
            <a:r>
              <a:rPr sz="1800" b="0" dirty="0" err="1">
                <a:solidFill>
                  <a:srgbClr val="404040"/>
                </a:solidFill>
              </a:rPr>
              <a:t>modèle</a:t>
            </a:r>
            <a:r>
              <a:rPr sz="1800" b="0" dirty="0">
                <a:solidFill>
                  <a:srgbClr val="404040"/>
                </a:solidFill>
              </a:rPr>
              <a:t> </a:t>
            </a:r>
            <a:r>
              <a:rPr sz="1800" b="0" dirty="0" err="1">
                <a:solidFill>
                  <a:srgbClr val="404040"/>
                </a:solidFill>
              </a:rPr>
              <a:t>en</a:t>
            </a:r>
            <a:r>
              <a:rPr sz="1800" b="0" dirty="0">
                <a:solidFill>
                  <a:srgbClr val="404040"/>
                </a:solidFill>
              </a:rPr>
              <a:t> production</a:t>
            </a:r>
          </a:p>
          <a:p>
            <a:pPr>
              <a:spcAft>
                <a:spcPts val="1000"/>
              </a:spcAft>
            </a:pPr>
            <a:r>
              <a:rPr sz="1800" b="0" dirty="0">
                <a:solidFill>
                  <a:srgbClr val="404040"/>
                </a:solidFill>
              </a:rPr>
              <a:t>• 3. Connecter le pipeline au </a:t>
            </a:r>
            <a:r>
              <a:rPr sz="1800" b="0" dirty="0" err="1">
                <a:solidFill>
                  <a:srgbClr val="404040"/>
                </a:solidFill>
              </a:rPr>
              <a:t>vrai</a:t>
            </a:r>
            <a:r>
              <a:rPr sz="1800" b="0" dirty="0">
                <a:solidFill>
                  <a:srgbClr val="404040"/>
                </a:solidFill>
              </a:rPr>
              <a:t> SI </a:t>
            </a:r>
            <a:r>
              <a:rPr sz="1800" b="0" dirty="0" err="1">
                <a:solidFill>
                  <a:srgbClr val="404040"/>
                </a:solidFill>
              </a:rPr>
              <a:t>scolarité</a:t>
            </a:r>
            <a:r>
              <a:rPr sz="1800" b="0" dirty="0">
                <a:solidFill>
                  <a:srgbClr val="404040"/>
                </a:solidFill>
              </a:rPr>
              <a:t>/LMS </a:t>
            </a:r>
            <a:r>
              <a:rPr sz="1800" b="0" dirty="0" err="1">
                <a:solidFill>
                  <a:srgbClr val="404040"/>
                </a:solidFill>
              </a:rPr>
              <a:t>plutôt</a:t>
            </a:r>
            <a:r>
              <a:rPr sz="1800" b="0" dirty="0">
                <a:solidFill>
                  <a:srgbClr val="404040"/>
                </a:solidFill>
              </a:rPr>
              <a:t> </a:t>
            </a:r>
            <a:r>
              <a:rPr sz="1800" b="0" dirty="0" err="1">
                <a:solidFill>
                  <a:srgbClr val="404040"/>
                </a:solidFill>
              </a:rPr>
              <a:t>qu'à</a:t>
            </a:r>
            <a:r>
              <a:rPr sz="1800" b="0" dirty="0">
                <a:solidFill>
                  <a:srgbClr val="404040"/>
                </a:solidFill>
              </a:rPr>
              <a:t> des CSV </a:t>
            </a:r>
            <a:r>
              <a:rPr sz="1800" b="0" dirty="0" err="1">
                <a:solidFill>
                  <a:srgbClr val="404040"/>
                </a:solidFill>
              </a:rPr>
              <a:t>manuels</a:t>
            </a:r>
            <a:endParaRPr sz="1800" b="0" dirty="0">
              <a:solidFill>
                <a:srgbClr val="404040"/>
              </a:solidFill>
            </a:endParaRPr>
          </a:p>
          <a:p>
            <a:pPr>
              <a:spcAft>
                <a:spcPts val="1000"/>
              </a:spcAft>
            </a:pPr>
            <a:r>
              <a:rPr sz="1800" b="0" dirty="0">
                <a:solidFill>
                  <a:srgbClr val="404040"/>
                </a:solidFill>
              </a:rPr>
              <a:t>• 4. </a:t>
            </a:r>
            <a:r>
              <a:rPr sz="1800" b="0" dirty="0" err="1">
                <a:solidFill>
                  <a:srgbClr val="404040"/>
                </a:solidFill>
              </a:rPr>
              <a:t>Construire</a:t>
            </a:r>
            <a:r>
              <a:rPr sz="1800" b="0" dirty="0">
                <a:solidFill>
                  <a:srgbClr val="404040"/>
                </a:solidFill>
              </a:rPr>
              <a:t> la couche de </a:t>
            </a:r>
            <a:r>
              <a:rPr sz="1800" b="0" dirty="0" err="1">
                <a:solidFill>
                  <a:srgbClr val="404040"/>
                </a:solidFill>
              </a:rPr>
              <a:t>consommation</a:t>
            </a:r>
            <a:r>
              <a:rPr sz="1800" b="0" dirty="0">
                <a:solidFill>
                  <a:srgbClr val="404040"/>
                </a:solidFill>
              </a:rPr>
              <a:t> métier (dashboard + notification </a:t>
            </a:r>
            <a:r>
              <a:rPr sz="1800" b="0" dirty="0" err="1">
                <a:solidFill>
                  <a:srgbClr val="404040"/>
                </a:solidFill>
              </a:rPr>
              <a:t>tuteur</a:t>
            </a:r>
            <a:r>
              <a:rPr sz="1800" b="0" dirty="0">
                <a:solidFill>
                  <a:srgbClr val="404040"/>
                </a:solidFill>
              </a:rPr>
              <a:t>)</a:t>
            </a:r>
          </a:p>
          <a:p>
            <a:pPr>
              <a:spcAft>
                <a:spcPts val="1000"/>
              </a:spcAft>
            </a:pPr>
            <a:r>
              <a:rPr sz="1800" b="0" dirty="0">
                <a:solidFill>
                  <a:srgbClr val="404040"/>
                </a:solidFill>
              </a:rPr>
              <a:t>• 5. </a:t>
            </a:r>
            <a:r>
              <a:rPr sz="1800" b="0" dirty="0" err="1">
                <a:solidFill>
                  <a:srgbClr val="404040"/>
                </a:solidFill>
              </a:rPr>
              <a:t>Traiter</a:t>
            </a:r>
            <a:r>
              <a:rPr sz="1800" b="0" dirty="0">
                <a:solidFill>
                  <a:srgbClr val="404040"/>
                </a:solidFill>
              </a:rPr>
              <a:t> les obligations RGPD </a:t>
            </a:r>
            <a:r>
              <a:rPr sz="1800" b="0" dirty="0" err="1">
                <a:solidFill>
                  <a:srgbClr val="404040"/>
                </a:solidFill>
              </a:rPr>
              <a:t>concrètement</a:t>
            </a:r>
            <a:r>
              <a:rPr sz="1800" b="0" dirty="0">
                <a:solidFill>
                  <a:srgbClr val="404040"/>
                </a:solidFill>
              </a:rPr>
              <a:t> (purge, journal </a:t>
            </a:r>
            <a:r>
              <a:rPr sz="1800" b="0" dirty="0" err="1">
                <a:solidFill>
                  <a:srgbClr val="404040"/>
                </a:solidFill>
              </a:rPr>
              <a:t>d'audit</a:t>
            </a:r>
            <a:r>
              <a:rPr sz="1800" b="0" dirty="0">
                <a:solidFill>
                  <a:srgbClr val="404040"/>
                </a:solidFill>
              </a:rPr>
              <a:t>, base </a:t>
            </a:r>
            <a:r>
              <a:rPr sz="1800" b="0" dirty="0" err="1">
                <a:solidFill>
                  <a:srgbClr val="404040"/>
                </a:solidFill>
              </a:rPr>
              <a:t>légale</a:t>
            </a:r>
            <a:r>
              <a:rPr sz="1800" b="0" dirty="0">
                <a:solidFill>
                  <a:srgbClr val="404040"/>
                </a:solidFill>
              </a:rPr>
              <a:t>)</a:t>
            </a:r>
          </a:p>
          <a:p>
            <a:pPr>
              <a:spcAft>
                <a:spcPts val="1000"/>
              </a:spcAft>
            </a:pPr>
            <a:r>
              <a:rPr sz="1800" b="0" dirty="0">
                <a:solidFill>
                  <a:srgbClr val="404040"/>
                </a:solidFill>
              </a:rPr>
              <a:t>• 6. </a:t>
            </a:r>
            <a:r>
              <a:rPr sz="1800" b="0" dirty="0" err="1">
                <a:solidFill>
                  <a:srgbClr val="404040"/>
                </a:solidFill>
              </a:rPr>
              <a:t>Réévaluer</a:t>
            </a:r>
            <a:r>
              <a:rPr sz="1800" b="0" dirty="0">
                <a:solidFill>
                  <a:srgbClr val="404040"/>
                </a:solidFill>
              </a:rPr>
              <a:t> le </a:t>
            </a:r>
            <a:r>
              <a:rPr sz="1800" b="0" dirty="0" err="1">
                <a:solidFill>
                  <a:srgbClr val="404040"/>
                </a:solidFill>
              </a:rPr>
              <a:t>biais</a:t>
            </a:r>
            <a:r>
              <a:rPr sz="1800" b="0" dirty="0">
                <a:solidFill>
                  <a:srgbClr val="404040"/>
                </a:solidFill>
              </a:rPr>
              <a:t> des variables </a:t>
            </a:r>
            <a:r>
              <a:rPr sz="1800" b="0" dirty="0" err="1">
                <a:solidFill>
                  <a:srgbClr val="404040"/>
                </a:solidFill>
              </a:rPr>
              <a:t>sensibles</a:t>
            </a:r>
            <a:r>
              <a:rPr sz="1800" b="0" dirty="0">
                <a:solidFill>
                  <a:srgbClr val="404040"/>
                </a:solidFill>
              </a:rPr>
              <a:t> à </a:t>
            </a:r>
            <a:r>
              <a:rPr sz="1800" b="0" dirty="0" err="1">
                <a:solidFill>
                  <a:srgbClr val="404040"/>
                </a:solidFill>
              </a:rPr>
              <a:t>chaque</a:t>
            </a:r>
            <a:r>
              <a:rPr sz="1800" b="0" dirty="0">
                <a:solidFill>
                  <a:srgbClr val="404040"/>
                </a:solidFill>
              </a:rPr>
              <a:t> nouvelle version</a:t>
            </a:r>
          </a:p>
          <a:p>
            <a:pPr>
              <a:spcAft>
                <a:spcPts val="1000"/>
              </a:spcAft>
            </a:pPr>
            <a:r>
              <a:rPr sz="1800" b="0" dirty="0">
                <a:solidFill>
                  <a:srgbClr val="404040"/>
                </a:solidFill>
              </a:rPr>
              <a:t>• 7. </a:t>
            </a:r>
            <a:r>
              <a:rPr sz="1800" b="0" dirty="0" err="1">
                <a:solidFill>
                  <a:srgbClr val="404040"/>
                </a:solidFill>
              </a:rPr>
              <a:t>Versionner</a:t>
            </a:r>
            <a:r>
              <a:rPr sz="1800" b="0" dirty="0">
                <a:solidFill>
                  <a:srgbClr val="404040"/>
                </a:solidFill>
              </a:rPr>
              <a:t> les données avec DVC, </a:t>
            </a:r>
            <a:r>
              <a:rPr sz="1800" b="0" dirty="0" err="1">
                <a:solidFill>
                  <a:srgbClr val="404040"/>
                </a:solidFill>
              </a:rPr>
              <a:t>en</a:t>
            </a:r>
            <a:r>
              <a:rPr sz="1800" b="0" dirty="0">
                <a:solidFill>
                  <a:srgbClr val="404040"/>
                </a:solidFill>
              </a:rPr>
              <a:t> plus des </a:t>
            </a:r>
            <a:r>
              <a:rPr sz="1800" b="0" dirty="0" err="1">
                <a:solidFill>
                  <a:srgbClr val="404040"/>
                </a:solidFill>
              </a:rPr>
              <a:t>modèles</a:t>
            </a:r>
            <a:endParaRPr sz="1800" b="0" dirty="0">
              <a:solidFill>
                <a:srgbClr val="404040"/>
              </a:solidFill>
            </a:endParaRPr>
          </a:p>
          <a:p>
            <a:pPr>
              <a:spcAft>
                <a:spcPts val="1000"/>
              </a:spcAft>
            </a:pPr>
            <a:r>
              <a:rPr sz="1800" b="0" dirty="0">
                <a:solidFill>
                  <a:srgbClr val="404040"/>
                </a:solidFill>
              </a:rPr>
              <a:t>• 8. Former les </a:t>
            </a:r>
            <a:r>
              <a:rPr sz="1800" b="0" dirty="0" err="1">
                <a:solidFill>
                  <a:srgbClr val="404040"/>
                </a:solidFill>
              </a:rPr>
              <a:t>conseillers</a:t>
            </a:r>
            <a:r>
              <a:rPr sz="1800" b="0" dirty="0">
                <a:solidFill>
                  <a:srgbClr val="404040"/>
                </a:solidFill>
              </a:rPr>
              <a:t> </a:t>
            </a:r>
            <a:r>
              <a:rPr sz="1800" b="0" dirty="0" err="1">
                <a:solidFill>
                  <a:srgbClr val="404040"/>
                </a:solidFill>
              </a:rPr>
              <a:t>pédagogiques</a:t>
            </a:r>
            <a:r>
              <a:rPr sz="1800" b="0" dirty="0">
                <a:solidFill>
                  <a:srgbClr val="404040"/>
                </a:solidFill>
              </a:rPr>
              <a:t> à </a:t>
            </a:r>
            <a:r>
              <a:rPr sz="1800" b="0" dirty="0" err="1">
                <a:solidFill>
                  <a:srgbClr val="404040"/>
                </a:solidFill>
              </a:rPr>
              <a:t>l'explicabilité</a:t>
            </a:r>
            <a:r>
              <a:rPr sz="1800" b="0" dirty="0">
                <a:solidFill>
                  <a:srgbClr val="404040"/>
                </a:solidFill>
              </a:rPr>
              <a:t> déjà disponible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437</TotalTime>
  <Words>1554</Words>
  <Application>Microsoft Office PowerPoint</Application>
  <PresentationFormat>Grand écran</PresentationFormat>
  <Paragraphs>181</Paragraphs>
  <Slides>22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Valeux, Marc</cp:lastModifiedBy>
  <cp:revision>16</cp:revision>
  <dcterms:created xsi:type="dcterms:W3CDTF">2013-01-27T09:14:16Z</dcterms:created>
  <dcterms:modified xsi:type="dcterms:W3CDTF">2026-08-20T14:39:49Z</dcterms:modified>
  <cp:category/>
</cp:coreProperties>
</file>