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pic>
        <p:nvPicPr>
          <p:cNvPr id="5" name="Picture 4" descr="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420624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03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IA de détection précoce du décrochage étudiant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404040"/>
                </a:solidFill>
              </a:rPr>
              <a:t>Certification — Concevoir et implémenter une solution d'intelligence artificielle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404040"/>
                </a:solidFill>
              </a:rPr>
              <a:t>Marc Valeux —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Contexte et problématique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Taux d'abandon élevé en 1re année de licence (L1) : ~28 % dans le jeu de données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Certaines filières (Biologie, Informatique) : taux de réussite historique &lt; 60 %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Chaque décrochage non détecté = coût pédagogique et administratif pour l'université,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– et un coût humain et social pour l'étudiant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L'enjeu : intervenir dès le milieu du 1er semestre (mi-S1), avant qu'il ne soit trop tard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Objectifs et approche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Prédire, à mi-semestre, le risque de décrochage (classification binaire `abandon`)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Estimer la note finale probable (régression `moyenne_finale`) pour calibrer l'accompagnement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Fournir des indicateurs explicables aux conseillers pédagogiques (pas une boîte noire)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Démarche de bout en bout : données → modèles → API → monitoring → gouvernance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Priorité donnée à la détection des faux négatifs (étudiants à risque non détectés)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Enjeux éthiques, sociétaux et conformité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RGPD : identifiants exclus des modèles (`student_id`, `id_dossier`)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Variables sensibles identifiées : `sexe`, `boursier` — exclues des features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Le "dilemme du marquage" : un signalement erroné peut stigmatiser un étudiant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Principe retenu : le score reste une aide à la décision humaine, jamais automatique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Explicabilité (SHAP) exigée pour justifier chaque signalement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Les données</a:t>
            </a:r>
          </a:p>
        </p:txBody>
      </p:sp>
      <p:pic>
        <p:nvPicPr>
          <p:cNvPr id="6" name="Picture 5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5 240 étudiants de L1 (année 2024-2025), 33 colonnes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Catalogue des formations : 8 filières (faculté, capacité d'accueil, taux de réussite historique)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Qualité : 40 doublons exacts supprimés, jusqu'à 12 % de valeurs manquantes sur certaines colonnes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Anti-fuite : imputation par médiane fit uniquement sur le train (jamais sur le test)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Split final : 4 160 lignes train / 1 040 lignes test, stratifié sur `abandon`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Analyse exploratoire — déséquilibre de la cible</a:t>
            </a:r>
          </a:p>
        </p:txBody>
      </p:sp>
      <p:pic>
        <p:nvPicPr>
          <p:cNvPr id="6" name="Picture 5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target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80160"/>
            <a:ext cx="6088966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645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28,4 % d'abandon, 71,6 % de réussite — déséquilibré mais pas extrême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Compensé par `class_weight="balanced"` (pas de SMOTE)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Analyse exploratoire — facteurs de risque</a:t>
            </a:r>
          </a:p>
        </p:txBody>
      </p:sp>
      <p:pic>
        <p:nvPicPr>
          <p:cNvPr id="6" name="Picture 5" descr="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taux_abandon_b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80160"/>
            <a:ext cx="6088966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645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Le type de bac est discriminant : le bac professionnel décroche nettement 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que le bac général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Autres facteurs corrélés : taux de présence, connexions LMS, engagement numérique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Préparation des données</a:t>
            </a:r>
          </a:p>
        </p:txBody>
      </p:sp>
      <p:pic>
        <p:nvPicPr>
          <p:cNvPr id="6" name="Picture 5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Pipeline bronze → silver → gold : nettoyage, homogénéisation, encodage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Variables à fuite temporelle exclues (`moyenne_partiels_s1`, `nb_ue_validees_s1`...)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Variables "leurres" détectées et exclues (`groupe_td`, `couleur_carte_etudiante`...)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Feature engineering : taux de rendu des devoirs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Règle d'or respectée : split train/test AVANT toute imputation (anti-fuite)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Choix du modèle — comparaison de 3 familles</a:t>
            </a:r>
          </a:p>
        </p:txBody>
      </p:sp>
      <p:pic>
        <p:nvPicPr>
          <p:cNvPr id="6" name="Picture 5" descr="pod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comparaison_mode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371600"/>
            <a:ext cx="7681708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Régression logistique, Random Forest, Gradient Boosting — comparés sur precision/recall/F1/ROC AUC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Optimisation des hyperparamètres (tuning)</a:t>
            </a:r>
          </a:p>
        </p:txBody>
      </p:sp>
      <p:pic>
        <p:nvPicPr>
          <p:cNvPr id="6" name="Picture 5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cv_st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486400" cy="2468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37160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• Classification `abandon` (recherche sur ROC-AUC, validation croisée 5-fold) :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</a:rPr>
              <a:t>– Régression logistique : `C` testé sur {0.01, 0.1, 1, 10} → C=0.01 retenu (AUC CV 0,947)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</a:rPr>
              <a:t>– Random Forest et Gradient Boosting également tunés (nb d'arbres, profondeur...)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</a:rPr>
              <a:t>– Classement inchangé après tuning : la régression logistique reste devant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04040"/>
                </a:solidFill>
              </a:rPr>
              <a:t>• Régression `moyenne_finale` (recherche sur R², même méthode) :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</a:rPr>
              <a:t>– Ridge : alpha testé sur {0.1, 1, 10, 50} → alpha=50 retenu (R² CV 0,655)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</a:rPr>
              <a:t>– Gradient Boosting retenu au final (R² CV 0,693), meilleur que Ridge et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Stabilité confirmée par validation croisée (5-fold) avant tuning — les écarts entre modèles ne sont pas un artefact d'un seul split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Diagnostic — matrices de confusion</a:t>
            </a:r>
          </a:p>
        </p:txBody>
      </p:sp>
      <p:pic>
        <p:nvPicPr>
          <p:cNvPr id="6" name="Picture 5" descr="gri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286000"/>
            <a:ext cx="10058400" cy="3181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La régression logistique fait le moins de faux négatifs des 3 modèles — modèle retenu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Diagnostic — courbes ROC et Précision-Rappel</a:t>
            </a:r>
          </a:p>
        </p:txBody>
      </p:sp>
      <p:pic>
        <p:nvPicPr>
          <p:cNvPr id="6" name="Picture 5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roc_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1002715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AUC 0,946 pour la régression logistique retenue, légèrement devant Gradient Boosting et Random Forest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Choix du seuil de décision</a:t>
            </a:r>
          </a:p>
        </p:txBody>
      </p:sp>
      <p:pic>
        <p:nvPicPr>
          <p:cNvPr id="6" name="Picture 5" descr="d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seuil_metriq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377440"/>
            <a:ext cx="10058400" cy="3101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Seuil retenu par défaut : 0,5 (coïncide avec l'optimum F1) — alternative à 0,33 chiffrée plus loin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Explicabilité globale — SHAP</a:t>
            </a:r>
          </a:p>
        </p:txBody>
      </p:sp>
      <p:pic>
        <p:nvPicPr>
          <p:cNvPr id="6" name="Picture 5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shap_beesw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188720"/>
            <a:ext cx="542511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`taux_presence_pct` est de loin le facteur le plus déterminant, suivi de la motivation et de l'engagement LMS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Explicabilité individuelle — pourquoi CET étudiant est signalé</a:t>
            </a:r>
          </a:p>
        </p:txBody>
      </p:sp>
      <p:pic>
        <p:nvPicPr>
          <p:cNvPr id="6" name="Picture 5" descr="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pic>
        <p:nvPicPr>
          <p:cNvPr id="7" name="Picture 6" descr="shap_waterfall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577840" cy="4451144"/>
          </a:xfrm>
          <a:prstGeom prst="rect">
            <a:avLst/>
          </a:prstGeom>
        </p:spPr>
      </p:pic>
      <p:pic>
        <p:nvPicPr>
          <p:cNvPr id="8" name="Picture 7" descr="shap_waterfall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71600"/>
            <a:ext cx="5577840" cy="4396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72200"/>
            <a:ext cx="10332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Étudiant à risque (gauche) vs étudiant peu à risque (droite) — chaque barre = une variable de CET étudiant précis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Régression complémentaire — note finale probable</a:t>
            </a:r>
          </a:p>
        </p:txBody>
      </p:sp>
      <p:pic>
        <p:nvPicPr>
          <p:cNvPr id="6" name="Picture 5" descr="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Cible secondaire `moyenne_finale` : comparaison Ridge / Random Forest / Gradient Boosting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Gradient Boosting Regressor retenu (à l'inverse de la classification) : la note continue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– dépend d'interactions plus complexes entre variables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Performance sur le test : R² = 0,692, MAE = 2,25 points/20, RMSE = 3,05 points/20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Sert à prioriser et calibrer l'accompagnement, jamais à prédire l'abandon (anti-fuite croisée)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Infrastructure et MLOps — testés réellement</a:t>
            </a:r>
          </a:p>
        </p:txBody>
      </p:sp>
      <p:pic>
        <p:nvPicPr>
          <p:cNvPr id="6" name="Picture 5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MLflow : 2 expériences, modèles enregistrés au Model Registry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Prefect : orchestration entraînement + scoring batch + stockage PostgreSQL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API FastAPI conteneurisée (Docker) : sert les 2 modèles via `/predict-tabular`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Monitoring Prometheus/Grafana : 7 alertes provisionnées (exploitation + dérive)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45+ tests automatisés (pytest)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Mesure de performance et impact métier</a:t>
            </a:r>
          </a:p>
        </p:txBody>
      </p:sp>
      <p:pic>
        <p:nvPicPr>
          <p:cNvPr id="6" name="Picture 5" descr="e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Sur le test (1 040 étudiants, 296 réellement en situation d'abandon, seuil 0,5) :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– 266 étudiants à risque correctement détectés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– 30 non détectés (faux négatifs) — coût estimé 75 000 € sur l'échantillon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– 99 signalés à tort (faux positifs) — ressources de tutorat mobilisées inutilement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Extrapolé à la promotion complète (~5 200 étudiants) : ~375 000 €/an de coût des FN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Hypothèse métier fournie : coût d'un faux négatif ≈ 2 500 €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19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Arbitrage du seuil — coûts et ROI</a:t>
            </a:r>
          </a:p>
        </p:txBody>
      </p:sp>
      <p:pic>
        <p:nvPicPr>
          <p:cNvPr id="6" name="Picture 5" descr="e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502920" cy="5029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46304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Seuil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Rappel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FN/an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Coût FN/an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Coût accompagnement/an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ROI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0,899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~150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375 000 €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~639 000 €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4,2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0,33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0,966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~50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125 000 €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~795 000 €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3,5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832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Passer de 0,5 à 0,33 : +100 FN évités/an (~250 000 €), au prix de +345 accompagnements/an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Gain net marginal : ~+95 000 €/an en faveur de 0,33, mais ROI (ratio) plus faible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Coût d'accompagnement (200-500 €/étudiant) : approximation, pas une mesure propre au projet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Arbitrage à valider avec la Direction — pas un choix technique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20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Conclusion</a:t>
            </a:r>
          </a:p>
        </p:txBody>
      </p:sp>
      <p:pic>
        <p:nvPicPr>
          <p:cNvPr id="6" name="Picture 5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Deux modèles indépendants, validés de bout en bout (comparaison, CV, tuning, SHAP)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Classification `abandon` : régression logistique — AUC 0,946, rappel 0,899, précision 0,729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Régression `moyenne_finale` : Gradient Boosting — R² 0,692, MAE 2,25 points/20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Infrastructure complète et testée réellement (API, Prefect, MLflow, monitoring, 45+ tests)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• Ce qui manque n'est pas technique : c'est la gouvernance humaine (qui valide, qui arbitre, qui audite)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</a:rPr>
              <a:t>21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© Proxiel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Recommandations</a:t>
            </a:r>
          </a:p>
        </p:txBody>
      </p:sp>
      <p:pic>
        <p:nvPicPr>
          <p:cNvPr id="6" name="Picture 5" descr="list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2024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8016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1. Faire trancher le seuil de décision par la Direction (chiffres du chapitre 12)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2. Mettre en place un gate humain avant toute promotion de modèle en production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3. Connecter le pipeline au vrai SI scolarité/LMS plutôt qu'à des CSV manuels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4. Construire la couche de consommation métier (dashboard + notification tuteur)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5. Traiter les obligations RGPD concrètement (purge, journal d'audit, base légale)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6. Réévaluer le biais des variables sensibles à chaque nouvelle version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7. Versionner les données avec DVC, en plus des modèles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8. Former les conseillers pédagogiques à l'explicabilité déjà disponible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